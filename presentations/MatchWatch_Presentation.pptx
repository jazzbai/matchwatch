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MatchWatch began as a way to connect sports fans with games and places to watch. The same community now anchors our streaming direction: independent creators can share a game and keep the recording. This deck describes development as of October 20, 2026. Implemented code and tests are distinct from production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product hypotheses rather than survey findings. Our first pilot should interview fans, creators, and venues to find the strongest recurring problem. We are not claiming a measured market size or existing commercial 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venue side is the platform foundation, not an abandoned idea. Streaming expands the same sports-community experience. The main platform is matchwatch.us; stream.matchwatch.us is the intended streaming domain and requires production configuration.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streaming workflow first used illustrative broadcasts and browser-local demo state. We then replaced the public recap feed with real completed games and appropriate YouTube links. On October 20, account-backed dashboards and real MediaMTX integration replaced the demo studio. The separate admin carousel was a visual iteration, not the central business milestone.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repository contains these implemented features. Production setup remains. Shared server logs confirmed MediaMTX listeners, but that does not establish an end-to-end physical camera broadcast. No real billing, creator payouts, or operational AI recap pipeline is included in the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Publishing credentials are private and unique to each broadcast; they are not the viewer link. Public live pages are free in the current release. Each person can also upload recordings and save external YouTube links. Recording libraries and favorites are scoped to the signed-in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MediaMTX receives the video and serves it to viewers. Temporary broadcast recordings stay on a persistent disk volume for seven days. Saving to the library copies a recording into private S3-compatible storage; longer recordings are split into parts. Uploads and saved parts have a 2 GB limit. Production needs DNS, HTTPS, account-based MediaMTX authentication, and the private bucket.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revenue streams on this slide are proposals, not active billing features. Earlier demo prices were illustrative and are not approved offers. The founder does not want to buy a managed-streaming plan; that infrastructure preference is separate from possible future customer subscriptions. Validate delivery costs and willingness to pay before committing to a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hackathon opportunity is a focused recording-to-highlight workflow. TwelveLabs is a candidate for semantic video understanding, and FFmpeg is a candidate for clip assembly. A creator should review the moments before publishing, with usage permissions retained. The team request is for AI search and automated video assembly expertise. This does not imply sponsorship or a commercial partnership with the event organizers or providers.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milestone is a dependable pilot, not a claim of scale. Track broadcast success, viewing time, saved recordings, returning creators, venue inquiries, and bandwidth/storage cost. Smart glasses are a future capture possibility only: the model and supported integration must be checked before promising direct streaming.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fourteen tests passed for the streaming release. The real-media test used temporary local MediaMTX and MinIO containers and a software encoder. A physical GoPro and production connection still need validation. The Oct 19 catalog snapshot contained 134 recap links across 192 completed games, but these are content counts from a dated rolling window, not customer 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concrete participation: one real game, a creator willing to test the broadcast workflow, a venue interested in fan discovery, or a teammate who can own semantic video search or recap assembly. The source of truth is MATCHWATCH_BUSINESS_README.md in Jazzbai/matchwatch. Current scope and future work should remain clear in every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matchwatch.us"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matchwatch.us"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SPORTS COMMUNITIES, CONNECTED</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Find the game.</a:t>
            </a:r>
            <a:endParaRPr lang="en-US" sz="3500" dirty="0"/>
          </a:p>
          <a:p>
            <a:pPr indent="0" marL="0">
              <a:buNone/>
            </a:pPr>
            <a:r>
              <a:rPr lang="en-US" sz="3500" b="1" dirty="0">
                <a:solidFill>
                  <a:srgbClr val="F3F6FA"/>
                </a:solidFill>
                <a:latin typeface="Aptos" pitchFamily="34" charset="0"/>
                <a:ea typeface="Aptos" pitchFamily="34" charset="-122"/>
                <a:cs typeface="Aptos" pitchFamily="34" charset="-120"/>
              </a:rPr>
              <a:t>Keep the moments.</a:t>
            </a:r>
            <a:endParaRPr lang="en-US" sz="3500" dirty="0"/>
          </a:p>
        </p:txBody>
      </p:sp>
      <p:sp>
        <p:nvSpPr>
          <p:cNvPr id="5" name="Shape 3"/>
          <p:cNvSpPr/>
          <p:nvPr/>
        </p:nvSpPr>
        <p:spPr>
          <a:xfrm>
            <a:off x="594360" y="6373368"/>
            <a:ext cx="10972800" cy="0"/>
          </a:xfrm>
          <a:prstGeom prst="line">
            <a:avLst/>
          </a:prstGeom>
          <a:noFill/>
          <a:ln w="8890">
            <a:solidFill>
              <a:srgbClr val="304256"/>
            </a:solidFill>
            <a:prstDash val="solid"/>
          </a:ln>
        </p:spPr>
      </p:sp>
      <p:sp>
        <p:nvSpPr>
          <p:cNvPr id="6" name="Text 4"/>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7" name="Text 5"/>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01</a:t>
            </a:r>
            <a:endParaRPr lang="en-US" sz="1000" dirty="0"/>
          </a:p>
        </p:txBody>
      </p:sp>
      <p:sp>
        <p:nvSpPr>
          <p:cNvPr id="8" name="Text 6"/>
          <p:cNvSpPr/>
          <p:nvPr/>
        </p:nvSpPr>
        <p:spPr>
          <a:xfrm>
            <a:off x="621792" y="2743200"/>
            <a:ext cx="6446520" cy="1005840"/>
          </a:xfrm>
          <a:prstGeom prst="rect">
            <a:avLst/>
          </a:prstGeom>
          <a:noFill/>
          <a:ln/>
        </p:spPr>
        <p:txBody>
          <a:bodyPr wrap="square" lIns="0" tIns="0" rIns="0" bIns="0" rtlCol="0" anchor="ctr"/>
          <a:lstStyle/>
          <a:p>
            <a:pPr indent="0" marL="0">
              <a:buNone/>
            </a:pPr>
            <a:r>
              <a:rPr lang="en-US" sz="2400" dirty="0">
                <a:solidFill>
                  <a:srgbClr val="ACBACB"/>
                </a:solidFill>
                <a:latin typeface="Aptos" pitchFamily="34" charset="0"/>
                <a:ea typeface="Aptos" pitchFamily="34" charset="-122"/>
                <a:cs typeface="Aptos" pitchFamily="34" charset="-120"/>
              </a:rPr>
              <a:t>From sports bars and watch parties to personal broadcasts, recordings, and the next generation of AI recaps.</a:t>
            </a:r>
            <a:endParaRPr lang="en-US" sz="2400" dirty="0"/>
          </a:p>
        </p:txBody>
      </p:sp>
      <p:sp>
        <p:nvSpPr>
          <p:cNvPr id="9" name="Text 7">
            <a:hlinkClick r:id="rId1" tooltip=""/>
          </p:cNvPr>
          <p:cNvSpPr/>
          <p:nvPr/>
        </p:nvSpPr>
        <p:spPr>
          <a:xfrm>
            <a:off x="621792" y="4809744"/>
            <a:ext cx="6400800" cy="457200"/>
          </a:xfrm>
          <a:prstGeom prst="rect">
            <a:avLst/>
          </a:prstGeom>
          <a:noFill/>
          <a:ln/>
        </p:spPr>
        <p:txBody>
          <a:bodyPr wrap="square" lIns="0" tIns="0" rIns="0" bIns="0" rtlCol="0" anchor="ctr"/>
          <a:lstStyle/>
          <a:p>
            <a:pPr indent="0" marL="0">
              <a:buNone/>
            </a:pPr>
            <a:r>
              <a:rPr lang="en-US" sz="2600" b="1" u="sng" dirty="0">
                <a:solidFill>
                  <a:srgbClr val="D9FF65"/>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MATCHWATCH.US</a:t>
            </a:r>
            <a:endParaRPr lang="en-US" sz="2600" dirty="0"/>
          </a:p>
        </p:txBody>
      </p:sp>
      <p:sp>
        <p:nvSpPr>
          <p:cNvPr id="10" name="Text 8"/>
          <p:cNvSpPr/>
          <p:nvPr/>
        </p:nvSpPr>
        <p:spPr>
          <a:xfrm>
            <a:off x="621792" y="5449824"/>
            <a:ext cx="6400800" cy="365760"/>
          </a:xfrm>
          <a:prstGeom prst="rect">
            <a:avLst/>
          </a:prstGeom>
          <a:noFill/>
          <a:ln/>
        </p:spPr>
        <p:txBody>
          <a:bodyPr wrap="square" lIns="0" tIns="0" rIns="0" bIns="0" rtlCol="0" anchor="ctr"/>
          <a:lstStyle/>
          <a:p>
            <a:pPr indent="0" marL="0">
              <a:buNone/>
            </a:pPr>
            <a:r>
              <a:rPr lang="en-US" sz="1300" dirty="0">
                <a:solidFill>
                  <a:srgbClr val="ACBACB"/>
                </a:solidFill>
                <a:latin typeface="Aptos" pitchFamily="34" charset="0"/>
                <a:ea typeface="Aptos" pitchFamily="34" charset="-122"/>
                <a:cs typeface="Aptos" pitchFamily="34" charset="-120"/>
              </a:rPr>
              <a:t>Past development • Present platform • Future direction</a:t>
            </a:r>
            <a:endParaRPr lang="en-US" sz="1300" dirty="0"/>
          </a:p>
        </p:txBody>
      </p:sp>
      <p:sp>
        <p:nvSpPr>
          <p:cNvPr id="11" name="Shape 9"/>
          <p:cNvSpPr/>
          <p:nvPr/>
        </p:nvSpPr>
        <p:spPr>
          <a:xfrm>
            <a:off x="7680960" y="2468880"/>
            <a:ext cx="3840480" cy="3337560"/>
          </a:xfrm>
          <a:prstGeom prst="rect">
            <a:avLst>
              <a:gd name="adj" fmla="val 3288"/>
            </a:avLst>
          </a:prstGeom>
          <a:solidFill>
            <a:srgbClr val="152130"/>
          </a:solidFill>
          <a:ln w="12700">
            <a:solidFill>
              <a:srgbClr val="152130"/>
            </a:solidFill>
            <a:prstDash val="solid"/>
          </a:ln>
        </p:spPr>
      </p:sp>
      <p:sp>
        <p:nvSpPr>
          <p:cNvPr id="12" name="Text 10"/>
          <p:cNvSpPr/>
          <p:nvPr/>
        </p:nvSpPr>
        <p:spPr>
          <a:xfrm>
            <a:off x="8046720" y="2816352"/>
            <a:ext cx="2926080" cy="365760"/>
          </a:xfrm>
          <a:prstGeom prst="rect">
            <a:avLst/>
          </a:prstGeom>
          <a:noFill/>
          <a:ln/>
        </p:spPr>
        <p:txBody>
          <a:bodyPr wrap="square" lIns="0" tIns="0" rIns="0" bIns="0" rtlCol="0" anchor="ctr"/>
          <a:lstStyle/>
          <a:p>
            <a:pPr indent="0" marL="0">
              <a:buNone/>
            </a:pPr>
            <a:r>
              <a:rPr lang="en-US" sz="2400" b="1" dirty="0">
                <a:solidFill>
                  <a:srgbClr val="F3F6FA"/>
                </a:solidFill>
                <a:latin typeface="Aptos" pitchFamily="34" charset="0"/>
                <a:ea typeface="Aptos" pitchFamily="34" charset="-122"/>
                <a:cs typeface="Aptos" pitchFamily="34" charset="-120"/>
              </a:rPr>
              <a:t>DISCOVER</a:t>
            </a:r>
            <a:endParaRPr lang="en-US" sz="2400" dirty="0"/>
          </a:p>
        </p:txBody>
      </p:sp>
      <p:sp>
        <p:nvSpPr>
          <p:cNvPr id="13" name="Text 11"/>
          <p:cNvSpPr/>
          <p:nvPr/>
        </p:nvSpPr>
        <p:spPr>
          <a:xfrm>
            <a:off x="8046720" y="3483864"/>
            <a:ext cx="2926080" cy="365760"/>
          </a:xfrm>
          <a:prstGeom prst="rect">
            <a:avLst/>
          </a:prstGeom>
          <a:noFill/>
          <a:ln/>
        </p:spPr>
        <p:txBody>
          <a:bodyPr wrap="square" lIns="0" tIns="0" rIns="0" bIns="0" rtlCol="0" anchor="ctr"/>
          <a:lstStyle/>
          <a:p>
            <a:pPr indent="0" marL="0">
              <a:buNone/>
            </a:pPr>
            <a:r>
              <a:rPr lang="en-US" sz="2400" b="1" dirty="0">
                <a:solidFill>
                  <a:srgbClr val="F3F6FA"/>
                </a:solidFill>
                <a:latin typeface="Aptos" pitchFamily="34" charset="0"/>
                <a:ea typeface="Aptos" pitchFamily="34" charset="-122"/>
                <a:cs typeface="Aptos" pitchFamily="34" charset="-120"/>
              </a:rPr>
              <a:t>WATCH</a:t>
            </a:r>
            <a:endParaRPr lang="en-US" sz="2400" dirty="0"/>
          </a:p>
        </p:txBody>
      </p:sp>
      <p:sp>
        <p:nvSpPr>
          <p:cNvPr id="14" name="Text 12"/>
          <p:cNvSpPr/>
          <p:nvPr/>
        </p:nvSpPr>
        <p:spPr>
          <a:xfrm>
            <a:off x="8046720" y="4151376"/>
            <a:ext cx="2926080" cy="365760"/>
          </a:xfrm>
          <a:prstGeom prst="rect">
            <a:avLst/>
          </a:prstGeom>
          <a:noFill/>
          <a:ln/>
        </p:spPr>
        <p:txBody>
          <a:bodyPr wrap="square" lIns="0" tIns="0" rIns="0" bIns="0" rtlCol="0" anchor="ctr"/>
          <a:lstStyle/>
          <a:p>
            <a:pPr indent="0" marL="0">
              <a:buNone/>
            </a:pPr>
            <a:r>
              <a:rPr lang="en-US" sz="2400" b="1" dirty="0">
                <a:solidFill>
                  <a:srgbClr val="D9FF65"/>
                </a:solidFill>
                <a:latin typeface="Aptos" pitchFamily="34" charset="0"/>
                <a:ea typeface="Aptos" pitchFamily="34" charset="-122"/>
                <a:cs typeface="Aptos" pitchFamily="34" charset="-120"/>
              </a:rPr>
              <a:t>CREATE</a:t>
            </a:r>
            <a:endParaRPr lang="en-US" sz="2400" dirty="0"/>
          </a:p>
        </p:txBody>
      </p:sp>
      <p:sp>
        <p:nvSpPr>
          <p:cNvPr id="15" name="Text 13"/>
          <p:cNvSpPr/>
          <p:nvPr/>
        </p:nvSpPr>
        <p:spPr>
          <a:xfrm>
            <a:off x="8046720" y="4818888"/>
            <a:ext cx="2926080" cy="365760"/>
          </a:xfrm>
          <a:prstGeom prst="rect">
            <a:avLst/>
          </a:prstGeom>
          <a:noFill/>
          <a:ln/>
        </p:spPr>
        <p:txBody>
          <a:bodyPr wrap="square" lIns="0" tIns="0" rIns="0" bIns="0" rtlCol="0" anchor="ctr"/>
          <a:lstStyle/>
          <a:p>
            <a:pPr indent="0" marL="0">
              <a:buNone/>
            </a:pPr>
            <a:r>
              <a:rPr lang="en-US" sz="2400" b="1" dirty="0">
                <a:solidFill>
                  <a:srgbClr val="F3F6FA"/>
                </a:solidFill>
                <a:latin typeface="Aptos" pitchFamily="34" charset="0"/>
                <a:ea typeface="Aptos" pitchFamily="34" charset="-122"/>
                <a:cs typeface="Aptos" pitchFamily="34" charset="-120"/>
              </a:rPr>
              <a:t>SAVE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THE PROBLEM</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One sports community. Fragmented experiences.</a:t>
            </a:r>
            <a:endParaRPr lang="en-US" sz="3500" dirty="0"/>
          </a:p>
        </p:txBody>
      </p:sp>
      <p:sp>
        <p:nvSpPr>
          <p:cNvPr id="5" name="Text 3"/>
          <p:cNvSpPr/>
          <p:nvPr/>
        </p:nvSpPr>
        <p:spPr>
          <a:xfrm>
            <a:off x="621792" y="2304288"/>
            <a:ext cx="10881360" cy="54864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Our working problem hypothesis: the discovery, broadcast, and replay journeys are disconnected.</a:t>
            </a:r>
            <a:endParaRPr lang="en-US" sz="1600" dirty="0"/>
          </a:p>
        </p:txBody>
      </p:sp>
      <p:sp>
        <p:nvSpPr>
          <p:cNvPr id="6" name="Shape 4"/>
          <p:cNvSpPr/>
          <p:nvPr/>
        </p:nvSpPr>
        <p:spPr>
          <a:xfrm>
            <a:off x="594360" y="6373368"/>
            <a:ext cx="10972800" cy="0"/>
          </a:xfrm>
          <a:prstGeom prst="line">
            <a:avLst/>
          </a:prstGeom>
          <a:noFill/>
          <a:ln w="8890">
            <a:solidFill>
              <a:srgbClr val="304256"/>
            </a:solidFill>
            <a:prstDash val="solid"/>
          </a:ln>
        </p:spPr>
      </p:sp>
      <p:sp>
        <p:nvSpPr>
          <p:cNvPr id="7" name="Text 5"/>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8" name="Text 6"/>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02</a:t>
            </a:r>
            <a:endParaRPr lang="en-US" sz="1000" dirty="0"/>
          </a:p>
        </p:txBody>
      </p:sp>
      <p:sp>
        <p:nvSpPr>
          <p:cNvPr id="9" name="Shape 7"/>
          <p:cNvSpPr/>
          <p:nvPr/>
        </p:nvSpPr>
        <p:spPr>
          <a:xfrm>
            <a:off x="594360" y="3108960"/>
            <a:ext cx="3520440" cy="2697480"/>
          </a:xfrm>
          <a:prstGeom prst="rect">
            <a:avLst>
              <a:gd name="adj" fmla="val 4068"/>
            </a:avLst>
          </a:prstGeom>
          <a:solidFill>
            <a:srgbClr val="152130"/>
          </a:solidFill>
          <a:ln w="12700">
            <a:solidFill>
              <a:srgbClr val="152130"/>
            </a:solidFill>
            <a:prstDash val="solid"/>
          </a:ln>
        </p:spPr>
      </p:sp>
      <p:sp>
        <p:nvSpPr>
          <p:cNvPr id="10" name="Shape 8"/>
          <p:cNvSpPr/>
          <p:nvPr/>
        </p:nvSpPr>
        <p:spPr>
          <a:xfrm>
            <a:off x="594360" y="3108960"/>
            <a:ext cx="41148" cy="2697480"/>
          </a:xfrm>
          <a:prstGeom prst="rect">
            <a:avLst>
              <a:gd name="adj" fmla="val 266667"/>
            </a:avLst>
          </a:prstGeom>
          <a:solidFill>
            <a:srgbClr val="D9FF65"/>
          </a:solidFill>
          <a:ln w="12700">
            <a:solidFill>
              <a:srgbClr val="D9FF65"/>
            </a:solidFill>
            <a:prstDash val="solid"/>
          </a:ln>
        </p:spPr>
      </p:sp>
      <p:sp>
        <p:nvSpPr>
          <p:cNvPr id="11" name="Text 9"/>
          <p:cNvSpPr/>
          <p:nvPr/>
        </p:nvSpPr>
        <p:spPr>
          <a:xfrm>
            <a:off x="804672" y="3319272"/>
            <a:ext cx="3099816"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FANS</a:t>
            </a:r>
            <a:endParaRPr lang="en-US" sz="1000" dirty="0"/>
          </a:p>
        </p:txBody>
      </p:sp>
      <p:sp>
        <p:nvSpPr>
          <p:cNvPr id="12" name="Text 10"/>
          <p:cNvSpPr/>
          <p:nvPr/>
        </p:nvSpPr>
        <p:spPr>
          <a:xfrm>
            <a:off x="804672" y="3813048"/>
            <a:ext cx="3099816"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Where can I watch?</a:t>
            </a:r>
            <a:endParaRPr lang="en-US" sz="2300" dirty="0"/>
          </a:p>
        </p:txBody>
      </p:sp>
      <p:sp>
        <p:nvSpPr>
          <p:cNvPr id="13" name="Text 11"/>
          <p:cNvSpPr/>
          <p:nvPr/>
        </p:nvSpPr>
        <p:spPr>
          <a:xfrm>
            <a:off x="804672" y="4709160"/>
            <a:ext cx="3099816" cy="96012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Schedules, local watch spots, and recaps live in different places.</a:t>
            </a:r>
            <a:endParaRPr lang="en-US" sz="1600" dirty="0"/>
          </a:p>
        </p:txBody>
      </p:sp>
      <p:sp>
        <p:nvSpPr>
          <p:cNvPr id="14" name="Shape 12"/>
          <p:cNvSpPr/>
          <p:nvPr/>
        </p:nvSpPr>
        <p:spPr>
          <a:xfrm>
            <a:off x="4334256" y="3108960"/>
            <a:ext cx="3520440" cy="2697480"/>
          </a:xfrm>
          <a:prstGeom prst="rect">
            <a:avLst>
              <a:gd name="adj" fmla="val 4068"/>
            </a:avLst>
          </a:prstGeom>
          <a:solidFill>
            <a:srgbClr val="152130"/>
          </a:solidFill>
          <a:ln w="12700">
            <a:solidFill>
              <a:srgbClr val="152130"/>
            </a:solidFill>
            <a:prstDash val="solid"/>
          </a:ln>
        </p:spPr>
      </p:sp>
      <p:sp>
        <p:nvSpPr>
          <p:cNvPr id="15" name="Shape 13"/>
          <p:cNvSpPr/>
          <p:nvPr/>
        </p:nvSpPr>
        <p:spPr>
          <a:xfrm>
            <a:off x="4334256" y="3108960"/>
            <a:ext cx="41148" cy="2697480"/>
          </a:xfrm>
          <a:prstGeom prst="rect">
            <a:avLst>
              <a:gd name="adj" fmla="val 266667"/>
            </a:avLst>
          </a:prstGeom>
          <a:solidFill>
            <a:srgbClr val="D9FF65"/>
          </a:solidFill>
          <a:ln w="12700">
            <a:solidFill>
              <a:srgbClr val="D9FF65"/>
            </a:solidFill>
            <a:prstDash val="solid"/>
          </a:ln>
        </p:spPr>
      </p:sp>
      <p:sp>
        <p:nvSpPr>
          <p:cNvPr id="16" name="Text 14"/>
          <p:cNvSpPr/>
          <p:nvPr/>
        </p:nvSpPr>
        <p:spPr>
          <a:xfrm>
            <a:off x="4544568" y="3319272"/>
            <a:ext cx="3099816"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CREATORS</a:t>
            </a:r>
            <a:endParaRPr lang="en-US" sz="1000" dirty="0"/>
          </a:p>
        </p:txBody>
      </p:sp>
      <p:sp>
        <p:nvSpPr>
          <p:cNvPr id="17" name="Text 15"/>
          <p:cNvSpPr/>
          <p:nvPr/>
        </p:nvSpPr>
        <p:spPr>
          <a:xfrm>
            <a:off x="4544568" y="3813048"/>
            <a:ext cx="3099816"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How do I share it?</a:t>
            </a:r>
            <a:endParaRPr lang="en-US" sz="2300" dirty="0"/>
          </a:p>
        </p:txBody>
      </p:sp>
      <p:sp>
        <p:nvSpPr>
          <p:cNvPr id="18" name="Text 16"/>
          <p:cNvSpPr/>
          <p:nvPr/>
        </p:nvSpPr>
        <p:spPr>
          <a:xfrm>
            <a:off x="4544568" y="4709160"/>
            <a:ext cx="3099816" cy="96012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A camera alone does not provide a watch page or organized recording library.</a:t>
            </a:r>
            <a:endParaRPr lang="en-US" sz="1600" dirty="0"/>
          </a:p>
        </p:txBody>
      </p:sp>
      <p:sp>
        <p:nvSpPr>
          <p:cNvPr id="19" name="Shape 17"/>
          <p:cNvSpPr/>
          <p:nvPr/>
        </p:nvSpPr>
        <p:spPr>
          <a:xfrm>
            <a:off x="8074152" y="3108960"/>
            <a:ext cx="3520440" cy="2697480"/>
          </a:xfrm>
          <a:prstGeom prst="rect">
            <a:avLst>
              <a:gd name="adj" fmla="val 4068"/>
            </a:avLst>
          </a:prstGeom>
          <a:solidFill>
            <a:srgbClr val="152130"/>
          </a:solidFill>
          <a:ln w="12700">
            <a:solidFill>
              <a:srgbClr val="152130"/>
            </a:solidFill>
            <a:prstDash val="solid"/>
          </a:ln>
        </p:spPr>
      </p:sp>
      <p:sp>
        <p:nvSpPr>
          <p:cNvPr id="20" name="Shape 18"/>
          <p:cNvSpPr/>
          <p:nvPr/>
        </p:nvSpPr>
        <p:spPr>
          <a:xfrm>
            <a:off x="8074152" y="3108960"/>
            <a:ext cx="41148" cy="2697480"/>
          </a:xfrm>
          <a:prstGeom prst="rect">
            <a:avLst>
              <a:gd name="adj" fmla="val 266667"/>
            </a:avLst>
          </a:prstGeom>
          <a:solidFill>
            <a:srgbClr val="D9FF65"/>
          </a:solidFill>
          <a:ln w="12700">
            <a:solidFill>
              <a:srgbClr val="D9FF65"/>
            </a:solidFill>
            <a:prstDash val="solid"/>
          </a:ln>
        </p:spPr>
      </p:sp>
      <p:sp>
        <p:nvSpPr>
          <p:cNvPr id="21" name="Text 19"/>
          <p:cNvSpPr/>
          <p:nvPr/>
        </p:nvSpPr>
        <p:spPr>
          <a:xfrm>
            <a:off x="8284464" y="3319272"/>
            <a:ext cx="3099816"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VENUES</a:t>
            </a:r>
            <a:endParaRPr lang="en-US" sz="1000" dirty="0"/>
          </a:p>
        </p:txBody>
      </p:sp>
      <p:sp>
        <p:nvSpPr>
          <p:cNvPr id="22" name="Text 20"/>
          <p:cNvSpPr/>
          <p:nvPr/>
        </p:nvSpPr>
        <p:spPr>
          <a:xfrm>
            <a:off x="8284464" y="3813048"/>
            <a:ext cx="3099816"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How do fans find us?</a:t>
            </a:r>
            <a:endParaRPr lang="en-US" sz="2300" dirty="0"/>
          </a:p>
        </p:txBody>
      </p:sp>
      <p:sp>
        <p:nvSpPr>
          <p:cNvPr id="23" name="Text 21"/>
          <p:cNvSpPr/>
          <p:nvPr/>
        </p:nvSpPr>
        <p:spPr>
          <a:xfrm>
            <a:off x="8284464" y="4709160"/>
            <a:ext cx="3099816" cy="96012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Match-day events need discovery and useful fan engagement.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THE PLATFORM</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Two connected experiences. One MatchWatch.</a:t>
            </a:r>
            <a:endParaRPr lang="en-US" sz="3500" dirty="0"/>
          </a:p>
        </p:txBody>
      </p:sp>
      <p:sp>
        <p:nvSpPr>
          <p:cNvPr id="5" name="Shape 3"/>
          <p:cNvSpPr/>
          <p:nvPr/>
        </p:nvSpPr>
        <p:spPr>
          <a:xfrm>
            <a:off x="594360" y="6373368"/>
            <a:ext cx="10972800" cy="0"/>
          </a:xfrm>
          <a:prstGeom prst="line">
            <a:avLst/>
          </a:prstGeom>
          <a:noFill/>
          <a:ln w="8890">
            <a:solidFill>
              <a:srgbClr val="304256"/>
            </a:solidFill>
            <a:prstDash val="solid"/>
          </a:ln>
        </p:spPr>
      </p:sp>
      <p:sp>
        <p:nvSpPr>
          <p:cNvPr id="6" name="Text 4"/>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7" name="Text 5"/>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03</a:t>
            </a:r>
            <a:endParaRPr lang="en-US" sz="1000" dirty="0"/>
          </a:p>
        </p:txBody>
      </p:sp>
      <p:sp>
        <p:nvSpPr>
          <p:cNvPr id="8" name="Shape 6"/>
          <p:cNvSpPr/>
          <p:nvPr/>
        </p:nvSpPr>
        <p:spPr>
          <a:xfrm>
            <a:off x="594360" y="2697480"/>
            <a:ext cx="5358384" cy="3035808"/>
          </a:xfrm>
          <a:prstGeom prst="rect">
            <a:avLst>
              <a:gd name="adj" fmla="val 3614"/>
            </a:avLst>
          </a:prstGeom>
          <a:solidFill>
            <a:srgbClr val="152130"/>
          </a:solidFill>
          <a:ln w="12700">
            <a:solidFill>
              <a:srgbClr val="152130"/>
            </a:solidFill>
            <a:prstDash val="solid"/>
          </a:ln>
        </p:spPr>
      </p:sp>
      <p:sp>
        <p:nvSpPr>
          <p:cNvPr id="9" name="Shape 7"/>
          <p:cNvSpPr/>
          <p:nvPr/>
        </p:nvSpPr>
        <p:spPr>
          <a:xfrm>
            <a:off x="594360" y="2697480"/>
            <a:ext cx="41148" cy="3035808"/>
          </a:xfrm>
          <a:prstGeom prst="rect">
            <a:avLst>
              <a:gd name="adj" fmla="val 266667"/>
            </a:avLst>
          </a:prstGeom>
          <a:solidFill>
            <a:srgbClr val="D9FF65"/>
          </a:solidFill>
          <a:ln w="12700">
            <a:solidFill>
              <a:srgbClr val="D9FF65"/>
            </a:solidFill>
            <a:prstDash val="solid"/>
          </a:ln>
        </p:spPr>
      </p:sp>
      <p:sp>
        <p:nvSpPr>
          <p:cNvPr id="10" name="Text 8"/>
          <p:cNvSpPr/>
          <p:nvPr/>
        </p:nvSpPr>
        <p:spPr>
          <a:xfrm>
            <a:off x="804672" y="2907792"/>
            <a:ext cx="4937760"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DISCOVERY &amp; VENUES</a:t>
            </a:r>
            <a:endParaRPr lang="en-US" sz="1000" dirty="0"/>
          </a:p>
        </p:txBody>
      </p:sp>
      <p:sp>
        <p:nvSpPr>
          <p:cNvPr id="11" name="Text 9"/>
          <p:cNvSpPr/>
          <p:nvPr/>
        </p:nvSpPr>
        <p:spPr>
          <a:xfrm>
            <a:off x="804672" y="3401568"/>
            <a:ext cx="4937760"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Find your game and your crowd.</a:t>
            </a:r>
            <a:endParaRPr lang="en-US" sz="2300" dirty="0"/>
          </a:p>
        </p:txBody>
      </p:sp>
      <p:sp>
        <p:nvSpPr>
          <p:cNvPr id="12" name="Text 10"/>
          <p:cNvSpPr/>
          <p:nvPr/>
        </p:nvSpPr>
        <p:spPr>
          <a:xfrm>
            <a:off x="804672" y="4297680"/>
            <a:ext cx="4937760" cy="1298448"/>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Sports schedules, venue discovery, watch parties, reservations, and engagement workflows.</a:t>
            </a:r>
            <a:endParaRPr lang="en-US" sz="1600" dirty="0"/>
          </a:p>
        </p:txBody>
      </p:sp>
      <p:sp>
        <p:nvSpPr>
          <p:cNvPr id="13" name="Shape 11"/>
          <p:cNvSpPr/>
          <p:nvPr/>
        </p:nvSpPr>
        <p:spPr>
          <a:xfrm>
            <a:off x="6199632" y="2697480"/>
            <a:ext cx="5358384" cy="3035808"/>
          </a:xfrm>
          <a:prstGeom prst="rect">
            <a:avLst>
              <a:gd name="adj" fmla="val 3614"/>
            </a:avLst>
          </a:prstGeom>
          <a:solidFill>
            <a:srgbClr val="152130"/>
          </a:solidFill>
          <a:ln w="12700">
            <a:solidFill>
              <a:srgbClr val="152130"/>
            </a:solidFill>
            <a:prstDash val="solid"/>
          </a:ln>
        </p:spPr>
      </p:sp>
      <p:sp>
        <p:nvSpPr>
          <p:cNvPr id="14" name="Shape 12"/>
          <p:cNvSpPr/>
          <p:nvPr/>
        </p:nvSpPr>
        <p:spPr>
          <a:xfrm>
            <a:off x="6199632" y="2697480"/>
            <a:ext cx="41148" cy="3035808"/>
          </a:xfrm>
          <a:prstGeom prst="rect">
            <a:avLst>
              <a:gd name="adj" fmla="val 266667"/>
            </a:avLst>
          </a:prstGeom>
          <a:solidFill>
            <a:srgbClr val="D9FF65"/>
          </a:solidFill>
          <a:ln w="12700">
            <a:solidFill>
              <a:srgbClr val="D9FF65"/>
            </a:solidFill>
            <a:prstDash val="solid"/>
          </a:ln>
        </p:spPr>
      </p:sp>
      <p:sp>
        <p:nvSpPr>
          <p:cNvPr id="15" name="Text 13"/>
          <p:cNvSpPr/>
          <p:nvPr/>
        </p:nvSpPr>
        <p:spPr>
          <a:xfrm>
            <a:off x="6409944" y="2907792"/>
            <a:ext cx="4937760"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MATCHWATCH STREAM</a:t>
            </a:r>
            <a:endParaRPr lang="en-US" sz="1000" dirty="0"/>
          </a:p>
        </p:txBody>
      </p:sp>
      <p:sp>
        <p:nvSpPr>
          <p:cNvPr id="16" name="Text 14"/>
          <p:cNvSpPr/>
          <p:nvPr/>
        </p:nvSpPr>
        <p:spPr>
          <a:xfrm>
            <a:off x="6409944" y="3401568"/>
            <a:ext cx="4937760"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Share the action and save it.</a:t>
            </a:r>
            <a:endParaRPr lang="en-US" sz="2300" dirty="0"/>
          </a:p>
        </p:txBody>
      </p:sp>
      <p:sp>
        <p:nvSpPr>
          <p:cNvPr id="17" name="Text 15"/>
          <p:cNvSpPr/>
          <p:nvPr/>
        </p:nvSpPr>
        <p:spPr>
          <a:xfrm>
            <a:off x="6409944" y="4297680"/>
            <a:ext cx="4937760" cy="1298448"/>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Personal broadcasts, public watch links, private recordings, and YouTube favorites.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DEVELOPMENT STORY</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From discovery to a creator platform.</a:t>
            </a:r>
            <a:endParaRPr lang="en-US" sz="3500" dirty="0"/>
          </a:p>
        </p:txBody>
      </p:sp>
      <p:sp>
        <p:nvSpPr>
          <p:cNvPr id="5" name="Text 3"/>
          <p:cNvSpPr/>
          <p:nvPr/>
        </p:nvSpPr>
        <p:spPr>
          <a:xfrm>
            <a:off x="621792" y="2304288"/>
            <a:ext cx="10881360" cy="54864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Earlier stages are shown in sequence; only the recent milestones have verified dates.</a:t>
            </a:r>
            <a:endParaRPr lang="en-US" sz="1600" dirty="0"/>
          </a:p>
        </p:txBody>
      </p:sp>
      <p:sp>
        <p:nvSpPr>
          <p:cNvPr id="6" name="Shape 4"/>
          <p:cNvSpPr/>
          <p:nvPr/>
        </p:nvSpPr>
        <p:spPr>
          <a:xfrm>
            <a:off x="594360" y="6373368"/>
            <a:ext cx="10972800" cy="0"/>
          </a:xfrm>
          <a:prstGeom prst="line">
            <a:avLst/>
          </a:prstGeom>
          <a:noFill/>
          <a:ln w="8890">
            <a:solidFill>
              <a:srgbClr val="304256"/>
            </a:solidFill>
            <a:prstDash val="solid"/>
          </a:ln>
        </p:spPr>
      </p:sp>
      <p:sp>
        <p:nvSpPr>
          <p:cNvPr id="7" name="Text 5"/>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8" name="Text 6"/>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04</a:t>
            </a:r>
            <a:endParaRPr lang="en-US" sz="1000" dirty="0"/>
          </a:p>
        </p:txBody>
      </p:sp>
      <p:sp>
        <p:nvSpPr>
          <p:cNvPr id="9" name="Shape 7"/>
          <p:cNvSpPr/>
          <p:nvPr/>
        </p:nvSpPr>
        <p:spPr>
          <a:xfrm>
            <a:off x="594360" y="3136392"/>
            <a:ext cx="2596896" cy="2450592"/>
          </a:xfrm>
          <a:prstGeom prst="rect">
            <a:avLst>
              <a:gd name="adj" fmla="val 4478"/>
            </a:avLst>
          </a:prstGeom>
          <a:solidFill>
            <a:srgbClr val="152130"/>
          </a:solidFill>
          <a:ln w="12700">
            <a:solidFill>
              <a:srgbClr val="152130"/>
            </a:solidFill>
            <a:prstDash val="solid"/>
          </a:ln>
        </p:spPr>
      </p:sp>
      <p:sp>
        <p:nvSpPr>
          <p:cNvPr id="10" name="Text 8"/>
          <p:cNvSpPr/>
          <p:nvPr/>
        </p:nvSpPr>
        <p:spPr>
          <a:xfrm>
            <a:off x="777240" y="3337560"/>
            <a:ext cx="2194560" cy="411480"/>
          </a:xfrm>
          <a:prstGeom prst="rect">
            <a:avLst/>
          </a:prstGeom>
          <a:noFill/>
          <a:ln/>
        </p:spPr>
        <p:txBody>
          <a:bodyPr wrap="square" lIns="0" tIns="0" rIns="0" bIns="0" rtlCol="0" anchor="ctr"/>
          <a:lstStyle/>
          <a:p>
            <a:pPr indent="0" marL="0">
              <a:buNone/>
            </a:pPr>
            <a:r>
              <a:rPr lang="en-US" sz="3000" b="1" dirty="0">
                <a:solidFill>
                  <a:srgbClr val="D9FF65"/>
                </a:solidFill>
                <a:latin typeface="Aptos" pitchFamily="34" charset="0"/>
                <a:ea typeface="Aptos" pitchFamily="34" charset="-122"/>
                <a:cs typeface="Aptos" pitchFamily="34" charset="-120"/>
              </a:rPr>
              <a:t>01</a:t>
            </a:r>
            <a:endParaRPr lang="en-US" sz="3000" dirty="0"/>
          </a:p>
        </p:txBody>
      </p:sp>
      <p:sp>
        <p:nvSpPr>
          <p:cNvPr id="11" name="Text 9"/>
          <p:cNvSpPr/>
          <p:nvPr/>
        </p:nvSpPr>
        <p:spPr>
          <a:xfrm>
            <a:off x="777240" y="3904488"/>
            <a:ext cx="2194560" cy="274320"/>
          </a:xfrm>
          <a:prstGeom prst="rect">
            <a:avLst/>
          </a:prstGeom>
          <a:noFill/>
          <a:ln/>
        </p:spPr>
        <p:txBody>
          <a:bodyPr wrap="square" lIns="0" tIns="0" rIns="0" bIns="0" rtlCol="0" anchor="ctr"/>
          <a:lstStyle/>
          <a:p>
            <a:pPr indent="0" marL="0">
              <a:buNone/>
            </a:pPr>
            <a:r>
              <a:rPr lang="en-US" sz="1200" b="1" dirty="0">
                <a:solidFill>
                  <a:srgbClr val="77B7FF"/>
                </a:solidFill>
                <a:latin typeface="Aptos" pitchFamily="34" charset="0"/>
                <a:ea typeface="Aptos" pitchFamily="34" charset="-122"/>
                <a:cs typeface="Aptos" pitchFamily="34" charset="-120"/>
              </a:rPr>
              <a:t>FOUNDATION</a:t>
            </a:r>
            <a:endParaRPr lang="en-US" sz="1200" dirty="0"/>
          </a:p>
        </p:txBody>
      </p:sp>
      <p:sp>
        <p:nvSpPr>
          <p:cNvPr id="12" name="Text 10"/>
          <p:cNvSpPr/>
          <p:nvPr/>
        </p:nvSpPr>
        <p:spPr>
          <a:xfrm>
            <a:off x="777240" y="4416552"/>
            <a:ext cx="2194560" cy="941832"/>
          </a:xfrm>
          <a:prstGeom prst="rect">
            <a:avLst/>
          </a:prstGeom>
          <a:noFill/>
          <a:ln/>
        </p:spPr>
        <p:txBody>
          <a:bodyPr wrap="square" lIns="0" tIns="0" rIns="0" bIns="0" rtlCol="0" anchor="ctr"/>
          <a:lstStyle/>
          <a:p>
            <a:pPr indent="0" marL="0">
              <a:buNone/>
            </a:pPr>
            <a:r>
              <a:rPr lang="en-US" sz="1600" dirty="0">
                <a:solidFill>
                  <a:srgbClr val="F3F6FA"/>
                </a:solidFill>
                <a:latin typeface="Aptos" pitchFamily="34" charset="0"/>
                <a:ea typeface="Aptos" pitchFamily="34" charset="-122"/>
                <a:cs typeface="Aptos" pitchFamily="34" charset="-120"/>
              </a:rPr>
              <a:t>Accounts, sports data, venues, maps, and reservations.</a:t>
            </a:r>
            <a:endParaRPr lang="en-US" sz="1600" dirty="0"/>
          </a:p>
        </p:txBody>
      </p:sp>
      <p:sp>
        <p:nvSpPr>
          <p:cNvPr id="13" name="Shape 11"/>
          <p:cNvSpPr/>
          <p:nvPr/>
        </p:nvSpPr>
        <p:spPr>
          <a:xfrm>
            <a:off x="3401568" y="3136392"/>
            <a:ext cx="2596896" cy="2450592"/>
          </a:xfrm>
          <a:prstGeom prst="rect">
            <a:avLst>
              <a:gd name="adj" fmla="val 4478"/>
            </a:avLst>
          </a:prstGeom>
          <a:solidFill>
            <a:srgbClr val="152130"/>
          </a:solidFill>
          <a:ln w="12700">
            <a:solidFill>
              <a:srgbClr val="152130"/>
            </a:solidFill>
            <a:prstDash val="solid"/>
          </a:ln>
        </p:spPr>
      </p:sp>
      <p:sp>
        <p:nvSpPr>
          <p:cNvPr id="14" name="Text 12"/>
          <p:cNvSpPr/>
          <p:nvPr/>
        </p:nvSpPr>
        <p:spPr>
          <a:xfrm>
            <a:off x="3584448" y="3337560"/>
            <a:ext cx="2194560" cy="411480"/>
          </a:xfrm>
          <a:prstGeom prst="rect">
            <a:avLst/>
          </a:prstGeom>
          <a:noFill/>
          <a:ln/>
        </p:spPr>
        <p:txBody>
          <a:bodyPr wrap="square" lIns="0" tIns="0" rIns="0" bIns="0" rtlCol="0" anchor="ctr"/>
          <a:lstStyle/>
          <a:p>
            <a:pPr indent="0" marL="0">
              <a:buNone/>
            </a:pPr>
            <a:r>
              <a:rPr lang="en-US" sz="3000" b="1" dirty="0">
                <a:solidFill>
                  <a:srgbClr val="D9FF65"/>
                </a:solidFill>
                <a:latin typeface="Aptos" pitchFamily="34" charset="0"/>
                <a:ea typeface="Aptos" pitchFamily="34" charset="-122"/>
                <a:cs typeface="Aptos" pitchFamily="34" charset="-120"/>
              </a:rPr>
              <a:t>02</a:t>
            </a:r>
            <a:endParaRPr lang="en-US" sz="3000" dirty="0"/>
          </a:p>
        </p:txBody>
      </p:sp>
      <p:sp>
        <p:nvSpPr>
          <p:cNvPr id="15" name="Text 13"/>
          <p:cNvSpPr/>
          <p:nvPr/>
        </p:nvSpPr>
        <p:spPr>
          <a:xfrm>
            <a:off x="3584448" y="3904488"/>
            <a:ext cx="2194560" cy="274320"/>
          </a:xfrm>
          <a:prstGeom prst="rect">
            <a:avLst/>
          </a:prstGeom>
          <a:noFill/>
          <a:ln/>
        </p:spPr>
        <p:txBody>
          <a:bodyPr wrap="square" lIns="0" tIns="0" rIns="0" bIns="0" rtlCol="0" anchor="ctr"/>
          <a:lstStyle/>
          <a:p>
            <a:pPr indent="0" marL="0">
              <a:buNone/>
            </a:pPr>
            <a:r>
              <a:rPr lang="en-US" sz="1200" b="1" dirty="0">
                <a:solidFill>
                  <a:srgbClr val="77B7FF"/>
                </a:solidFill>
                <a:latin typeface="Aptos" pitchFamily="34" charset="0"/>
                <a:ea typeface="Aptos" pitchFamily="34" charset="-122"/>
                <a:cs typeface="Aptos" pitchFamily="34" charset="-120"/>
              </a:rPr>
              <a:t>ENGAGEMENT</a:t>
            </a:r>
            <a:endParaRPr lang="en-US" sz="1200" dirty="0"/>
          </a:p>
        </p:txBody>
      </p:sp>
      <p:sp>
        <p:nvSpPr>
          <p:cNvPr id="16" name="Text 14"/>
          <p:cNvSpPr/>
          <p:nvPr/>
        </p:nvSpPr>
        <p:spPr>
          <a:xfrm>
            <a:off x="3584448" y="4416552"/>
            <a:ext cx="2194560" cy="941832"/>
          </a:xfrm>
          <a:prstGeom prst="rect">
            <a:avLst/>
          </a:prstGeom>
          <a:noFill/>
          <a:ln/>
        </p:spPr>
        <p:txBody>
          <a:bodyPr wrap="square" lIns="0" tIns="0" rIns="0" bIns="0" rtlCol="0" anchor="ctr"/>
          <a:lstStyle/>
          <a:p>
            <a:pPr indent="0" marL="0">
              <a:buNone/>
            </a:pPr>
            <a:r>
              <a:rPr lang="en-US" sz="1600" dirty="0">
                <a:solidFill>
                  <a:srgbClr val="F3F6FA"/>
                </a:solidFill>
                <a:latin typeface="Aptos" pitchFamily="34" charset="0"/>
                <a:ea typeface="Aptos" pitchFamily="34" charset="-122"/>
                <a:cs typeface="Aptos" pitchFamily="34" charset="-120"/>
              </a:rPr>
              <a:t>Events, venue content, QR and fan-engagement workflows.</a:t>
            </a:r>
            <a:endParaRPr lang="en-US" sz="1600" dirty="0"/>
          </a:p>
        </p:txBody>
      </p:sp>
      <p:sp>
        <p:nvSpPr>
          <p:cNvPr id="17" name="Shape 15"/>
          <p:cNvSpPr/>
          <p:nvPr/>
        </p:nvSpPr>
        <p:spPr>
          <a:xfrm>
            <a:off x="6208776" y="3136392"/>
            <a:ext cx="2596896" cy="2450592"/>
          </a:xfrm>
          <a:prstGeom prst="rect">
            <a:avLst>
              <a:gd name="adj" fmla="val 4478"/>
            </a:avLst>
          </a:prstGeom>
          <a:solidFill>
            <a:srgbClr val="152130"/>
          </a:solidFill>
          <a:ln w="12700">
            <a:solidFill>
              <a:srgbClr val="152130"/>
            </a:solidFill>
            <a:prstDash val="solid"/>
          </a:ln>
        </p:spPr>
      </p:sp>
      <p:sp>
        <p:nvSpPr>
          <p:cNvPr id="18" name="Text 16"/>
          <p:cNvSpPr/>
          <p:nvPr/>
        </p:nvSpPr>
        <p:spPr>
          <a:xfrm>
            <a:off x="6391656" y="3337560"/>
            <a:ext cx="2194560" cy="411480"/>
          </a:xfrm>
          <a:prstGeom prst="rect">
            <a:avLst/>
          </a:prstGeom>
          <a:noFill/>
          <a:ln/>
        </p:spPr>
        <p:txBody>
          <a:bodyPr wrap="square" lIns="0" tIns="0" rIns="0" bIns="0" rtlCol="0" anchor="ctr"/>
          <a:lstStyle/>
          <a:p>
            <a:pPr indent="0" marL="0">
              <a:buNone/>
            </a:pPr>
            <a:r>
              <a:rPr lang="en-US" sz="3000" b="1" dirty="0">
                <a:solidFill>
                  <a:srgbClr val="D9FF65"/>
                </a:solidFill>
                <a:latin typeface="Aptos" pitchFamily="34" charset="0"/>
                <a:ea typeface="Aptos" pitchFamily="34" charset="-122"/>
                <a:cs typeface="Aptos" pitchFamily="34" charset="-120"/>
              </a:rPr>
              <a:t>03</a:t>
            </a:r>
            <a:endParaRPr lang="en-US" sz="3000" dirty="0"/>
          </a:p>
        </p:txBody>
      </p:sp>
      <p:sp>
        <p:nvSpPr>
          <p:cNvPr id="19" name="Text 17"/>
          <p:cNvSpPr/>
          <p:nvPr/>
        </p:nvSpPr>
        <p:spPr>
          <a:xfrm>
            <a:off x="6391656" y="3904488"/>
            <a:ext cx="2194560" cy="274320"/>
          </a:xfrm>
          <a:prstGeom prst="rect">
            <a:avLst/>
          </a:prstGeom>
          <a:noFill/>
          <a:ln/>
        </p:spPr>
        <p:txBody>
          <a:bodyPr wrap="square" lIns="0" tIns="0" rIns="0" bIns="0" rtlCol="0" anchor="ctr"/>
          <a:lstStyle/>
          <a:p>
            <a:pPr indent="0" marL="0">
              <a:buNone/>
            </a:pPr>
            <a:r>
              <a:rPr lang="en-US" sz="1200" b="1" dirty="0">
                <a:solidFill>
                  <a:srgbClr val="77B7FF"/>
                </a:solidFill>
                <a:latin typeface="Aptos" pitchFamily="34" charset="0"/>
                <a:ea typeface="Aptos" pitchFamily="34" charset="-122"/>
                <a:cs typeface="Aptos" pitchFamily="34" charset="-120"/>
              </a:rPr>
              <a:t>OCT 19</a:t>
            </a:r>
            <a:endParaRPr lang="en-US" sz="1200" dirty="0"/>
          </a:p>
        </p:txBody>
      </p:sp>
      <p:sp>
        <p:nvSpPr>
          <p:cNvPr id="20" name="Text 18"/>
          <p:cNvSpPr/>
          <p:nvPr/>
        </p:nvSpPr>
        <p:spPr>
          <a:xfrm>
            <a:off x="6391656" y="4416552"/>
            <a:ext cx="2194560" cy="941832"/>
          </a:xfrm>
          <a:prstGeom prst="rect">
            <a:avLst/>
          </a:prstGeom>
          <a:noFill/>
          <a:ln/>
        </p:spPr>
        <p:txBody>
          <a:bodyPr wrap="square" lIns="0" tIns="0" rIns="0" bIns="0" rtlCol="0" anchor="ctr"/>
          <a:lstStyle/>
          <a:p>
            <a:pPr indent="0" marL="0">
              <a:buNone/>
            </a:pPr>
            <a:r>
              <a:rPr lang="en-US" sz="1600" dirty="0">
                <a:solidFill>
                  <a:srgbClr val="F3F6FA"/>
                </a:solidFill>
                <a:latin typeface="Aptos" pitchFamily="34" charset="0"/>
                <a:ea typeface="Aptos" pitchFamily="34" charset="-122"/>
                <a:cs typeface="Aptos" pitchFamily="34" charset="-120"/>
              </a:rPr>
              <a:t>Real past-week games, match-linked recaps, and expanded coverage.</a:t>
            </a:r>
            <a:endParaRPr lang="en-US" sz="1600" dirty="0"/>
          </a:p>
        </p:txBody>
      </p:sp>
      <p:sp>
        <p:nvSpPr>
          <p:cNvPr id="21" name="Shape 19"/>
          <p:cNvSpPr/>
          <p:nvPr/>
        </p:nvSpPr>
        <p:spPr>
          <a:xfrm>
            <a:off x="9015984" y="3136392"/>
            <a:ext cx="2596896" cy="2450592"/>
          </a:xfrm>
          <a:prstGeom prst="rect">
            <a:avLst>
              <a:gd name="adj" fmla="val 4478"/>
            </a:avLst>
          </a:prstGeom>
          <a:solidFill>
            <a:srgbClr val="152130"/>
          </a:solidFill>
          <a:ln w="12700">
            <a:solidFill>
              <a:srgbClr val="152130"/>
            </a:solidFill>
            <a:prstDash val="solid"/>
          </a:ln>
        </p:spPr>
      </p:sp>
      <p:sp>
        <p:nvSpPr>
          <p:cNvPr id="22" name="Text 20"/>
          <p:cNvSpPr/>
          <p:nvPr/>
        </p:nvSpPr>
        <p:spPr>
          <a:xfrm>
            <a:off x="9198864" y="3337560"/>
            <a:ext cx="2194560" cy="411480"/>
          </a:xfrm>
          <a:prstGeom prst="rect">
            <a:avLst/>
          </a:prstGeom>
          <a:noFill/>
          <a:ln/>
        </p:spPr>
        <p:txBody>
          <a:bodyPr wrap="square" lIns="0" tIns="0" rIns="0" bIns="0" rtlCol="0" anchor="ctr"/>
          <a:lstStyle/>
          <a:p>
            <a:pPr indent="0" marL="0">
              <a:buNone/>
            </a:pPr>
            <a:r>
              <a:rPr lang="en-US" sz="3000" b="1" dirty="0">
                <a:solidFill>
                  <a:srgbClr val="D9FF65"/>
                </a:solidFill>
                <a:latin typeface="Aptos" pitchFamily="34" charset="0"/>
                <a:ea typeface="Aptos" pitchFamily="34" charset="-122"/>
                <a:cs typeface="Aptos" pitchFamily="34" charset="-120"/>
              </a:rPr>
              <a:t>04</a:t>
            </a:r>
            <a:endParaRPr lang="en-US" sz="3000" dirty="0"/>
          </a:p>
        </p:txBody>
      </p:sp>
      <p:sp>
        <p:nvSpPr>
          <p:cNvPr id="23" name="Text 21"/>
          <p:cNvSpPr/>
          <p:nvPr/>
        </p:nvSpPr>
        <p:spPr>
          <a:xfrm>
            <a:off x="9198864" y="3904488"/>
            <a:ext cx="2194560" cy="274320"/>
          </a:xfrm>
          <a:prstGeom prst="rect">
            <a:avLst/>
          </a:prstGeom>
          <a:noFill/>
          <a:ln/>
        </p:spPr>
        <p:txBody>
          <a:bodyPr wrap="square" lIns="0" tIns="0" rIns="0" bIns="0" rtlCol="0" anchor="ctr"/>
          <a:lstStyle/>
          <a:p>
            <a:pPr indent="0" marL="0">
              <a:buNone/>
            </a:pPr>
            <a:r>
              <a:rPr lang="en-US" sz="1200" b="1" dirty="0">
                <a:solidFill>
                  <a:srgbClr val="77B7FF"/>
                </a:solidFill>
                <a:latin typeface="Aptos" pitchFamily="34" charset="0"/>
                <a:ea typeface="Aptos" pitchFamily="34" charset="-122"/>
                <a:cs typeface="Aptos" pitchFamily="34" charset="-120"/>
              </a:rPr>
              <a:t>OCT 20</a:t>
            </a:r>
            <a:endParaRPr lang="en-US" sz="1200" dirty="0"/>
          </a:p>
        </p:txBody>
      </p:sp>
      <p:sp>
        <p:nvSpPr>
          <p:cNvPr id="24" name="Text 22"/>
          <p:cNvSpPr/>
          <p:nvPr/>
        </p:nvSpPr>
        <p:spPr>
          <a:xfrm>
            <a:off x="9198864" y="4416552"/>
            <a:ext cx="2194560" cy="941832"/>
          </a:xfrm>
          <a:prstGeom prst="rect">
            <a:avLst/>
          </a:prstGeom>
          <a:noFill/>
          <a:ln/>
        </p:spPr>
        <p:txBody>
          <a:bodyPr wrap="square" lIns="0" tIns="0" rIns="0" bIns="0" rtlCol="0" anchor="ctr"/>
          <a:lstStyle/>
          <a:p>
            <a:pPr indent="0" marL="0">
              <a:buNone/>
            </a:pPr>
            <a:r>
              <a:rPr lang="en-US" sz="1600" dirty="0">
                <a:solidFill>
                  <a:srgbClr val="F3F6FA"/>
                </a:solidFill>
                <a:latin typeface="Aptos" pitchFamily="34" charset="0"/>
                <a:ea typeface="Aptos" pitchFamily="34" charset="-122"/>
                <a:cs typeface="Aptos" pitchFamily="34" charset="-120"/>
              </a:rPr>
              <a:t>Account-owned streaming, recordings, and YouTube favorites.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PRESENT CAPABILITIES</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Built, tested, and awaiting full rollout.</a:t>
            </a:r>
            <a:endParaRPr lang="en-US" sz="3500" dirty="0"/>
          </a:p>
        </p:txBody>
      </p:sp>
      <p:sp>
        <p:nvSpPr>
          <p:cNvPr id="5" name="Shape 3"/>
          <p:cNvSpPr/>
          <p:nvPr/>
        </p:nvSpPr>
        <p:spPr>
          <a:xfrm>
            <a:off x="594360" y="6373368"/>
            <a:ext cx="10972800" cy="0"/>
          </a:xfrm>
          <a:prstGeom prst="line">
            <a:avLst/>
          </a:prstGeom>
          <a:noFill/>
          <a:ln w="8890">
            <a:solidFill>
              <a:srgbClr val="304256"/>
            </a:solidFill>
            <a:prstDash val="solid"/>
          </a:ln>
        </p:spPr>
      </p:sp>
      <p:sp>
        <p:nvSpPr>
          <p:cNvPr id="6" name="Text 4"/>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7" name="Text 5"/>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05</a:t>
            </a:r>
            <a:endParaRPr lang="en-US" sz="1000" dirty="0"/>
          </a:p>
        </p:txBody>
      </p:sp>
      <p:sp>
        <p:nvSpPr>
          <p:cNvPr id="8" name="Shape 6"/>
          <p:cNvSpPr/>
          <p:nvPr/>
        </p:nvSpPr>
        <p:spPr>
          <a:xfrm>
            <a:off x="594360" y="2688336"/>
            <a:ext cx="10972800" cy="493776"/>
          </a:xfrm>
          <a:prstGeom prst="rect">
            <a:avLst>
              <a:gd name="adj" fmla="val 22222"/>
            </a:avLst>
          </a:prstGeom>
          <a:solidFill>
            <a:srgbClr val="152130"/>
          </a:solidFill>
          <a:ln w="12700">
            <a:solidFill>
              <a:srgbClr val="152130"/>
            </a:solidFill>
            <a:prstDash val="solid"/>
          </a:ln>
        </p:spPr>
      </p:sp>
      <p:sp>
        <p:nvSpPr>
          <p:cNvPr id="9" name="Text 7"/>
          <p:cNvSpPr/>
          <p:nvPr/>
        </p:nvSpPr>
        <p:spPr>
          <a:xfrm>
            <a:off x="804672" y="2816352"/>
            <a:ext cx="2057400" cy="201168"/>
          </a:xfrm>
          <a:prstGeom prst="rect">
            <a:avLst/>
          </a:prstGeom>
          <a:noFill/>
          <a:ln/>
        </p:spPr>
        <p:txBody>
          <a:bodyPr wrap="square" lIns="0" tIns="0" rIns="0" bIns="0" rtlCol="0" anchor="ctr"/>
          <a:lstStyle/>
          <a:p>
            <a:pPr indent="0" marL="0">
              <a:buNone/>
            </a:pPr>
            <a:r>
              <a:rPr lang="en-US" sz="1100" b="1" dirty="0">
                <a:solidFill>
                  <a:srgbClr val="D9FF65"/>
                </a:solidFill>
                <a:latin typeface="Aptos" pitchFamily="34" charset="0"/>
                <a:ea typeface="Aptos" pitchFamily="34" charset="-122"/>
                <a:cs typeface="Aptos" pitchFamily="34" charset="-120"/>
              </a:rPr>
              <a:t>IMPLEMENTED</a:t>
            </a:r>
            <a:endParaRPr lang="en-US" sz="1100" dirty="0"/>
          </a:p>
        </p:txBody>
      </p:sp>
      <p:sp>
        <p:nvSpPr>
          <p:cNvPr id="10" name="Text 8"/>
          <p:cNvSpPr/>
          <p:nvPr/>
        </p:nvSpPr>
        <p:spPr>
          <a:xfrm>
            <a:off x="2926080" y="2793492"/>
            <a:ext cx="8366760" cy="265176"/>
          </a:xfrm>
          <a:prstGeom prst="rect">
            <a:avLst/>
          </a:prstGeom>
          <a:noFill/>
          <a:ln/>
        </p:spPr>
        <p:txBody>
          <a:bodyPr wrap="square" lIns="0" tIns="0" rIns="0" bIns="0" rtlCol="0" anchor="ctr"/>
          <a:lstStyle/>
          <a:p>
            <a:pPr indent="0" marL="0">
              <a:buNone/>
            </a:pPr>
            <a:r>
              <a:rPr lang="en-US" sz="1700" dirty="0">
                <a:solidFill>
                  <a:srgbClr val="F3F6FA"/>
                </a:solidFill>
                <a:latin typeface="Aptos" pitchFamily="34" charset="0"/>
                <a:ea typeface="Aptos" pitchFamily="34" charset="-122"/>
                <a:cs typeface="Aptos" pitchFamily="34" charset="-120"/>
              </a:rPr>
              <a:t>Personal dashboards, private libraries, and favorites</a:t>
            </a:r>
            <a:endParaRPr lang="en-US" sz="1700" dirty="0"/>
          </a:p>
        </p:txBody>
      </p:sp>
      <p:sp>
        <p:nvSpPr>
          <p:cNvPr id="11" name="Shape 9"/>
          <p:cNvSpPr/>
          <p:nvPr/>
        </p:nvSpPr>
        <p:spPr>
          <a:xfrm>
            <a:off x="594360" y="3282696"/>
            <a:ext cx="10972800" cy="493776"/>
          </a:xfrm>
          <a:prstGeom prst="rect">
            <a:avLst>
              <a:gd name="adj" fmla="val 22222"/>
            </a:avLst>
          </a:prstGeom>
          <a:solidFill>
            <a:srgbClr val="0B111B"/>
          </a:solidFill>
          <a:ln w="12700">
            <a:solidFill>
              <a:srgbClr val="0B111B"/>
            </a:solidFill>
            <a:prstDash val="solid"/>
          </a:ln>
        </p:spPr>
      </p:sp>
      <p:sp>
        <p:nvSpPr>
          <p:cNvPr id="12" name="Text 10"/>
          <p:cNvSpPr/>
          <p:nvPr/>
        </p:nvSpPr>
        <p:spPr>
          <a:xfrm>
            <a:off x="804672" y="3410712"/>
            <a:ext cx="2057400" cy="201168"/>
          </a:xfrm>
          <a:prstGeom prst="rect">
            <a:avLst/>
          </a:prstGeom>
          <a:noFill/>
          <a:ln/>
        </p:spPr>
        <p:txBody>
          <a:bodyPr wrap="square" lIns="0" tIns="0" rIns="0" bIns="0" rtlCol="0" anchor="ctr"/>
          <a:lstStyle/>
          <a:p>
            <a:pPr indent="0" marL="0">
              <a:buNone/>
            </a:pPr>
            <a:r>
              <a:rPr lang="en-US" sz="1100" b="1" dirty="0">
                <a:solidFill>
                  <a:srgbClr val="D9FF65"/>
                </a:solidFill>
                <a:latin typeface="Aptos" pitchFamily="34" charset="0"/>
                <a:ea typeface="Aptos" pitchFamily="34" charset="-122"/>
                <a:cs typeface="Aptos" pitchFamily="34" charset="-120"/>
              </a:rPr>
              <a:t>IMPLEMENTED</a:t>
            </a:r>
            <a:endParaRPr lang="en-US" sz="1100" dirty="0"/>
          </a:p>
        </p:txBody>
      </p:sp>
      <p:sp>
        <p:nvSpPr>
          <p:cNvPr id="13" name="Text 11"/>
          <p:cNvSpPr/>
          <p:nvPr/>
        </p:nvSpPr>
        <p:spPr>
          <a:xfrm>
            <a:off x="2926080" y="3387852"/>
            <a:ext cx="8366760" cy="265176"/>
          </a:xfrm>
          <a:prstGeom prst="rect">
            <a:avLst/>
          </a:prstGeom>
          <a:noFill/>
          <a:ln/>
        </p:spPr>
        <p:txBody>
          <a:bodyPr wrap="square" lIns="0" tIns="0" rIns="0" bIns="0" rtlCol="0" anchor="ctr"/>
          <a:lstStyle/>
          <a:p>
            <a:pPr indent="0" marL="0">
              <a:buNone/>
            </a:pPr>
            <a:r>
              <a:rPr lang="en-US" sz="1700" dirty="0">
                <a:solidFill>
                  <a:srgbClr val="F3F6FA"/>
                </a:solidFill>
                <a:latin typeface="Aptos" pitchFamily="34" charset="0"/>
                <a:ea typeface="Aptos" pitchFamily="34" charset="-122"/>
                <a:cs typeface="Aptos" pitchFamily="34" charset="-120"/>
              </a:rPr>
              <a:t>Per-broadcast credentials and public live watch pages</a:t>
            </a:r>
            <a:endParaRPr lang="en-US" sz="1700" dirty="0"/>
          </a:p>
        </p:txBody>
      </p:sp>
      <p:sp>
        <p:nvSpPr>
          <p:cNvPr id="14" name="Shape 12"/>
          <p:cNvSpPr/>
          <p:nvPr/>
        </p:nvSpPr>
        <p:spPr>
          <a:xfrm>
            <a:off x="594360" y="3877056"/>
            <a:ext cx="10972800" cy="493776"/>
          </a:xfrm>
          <a:prstGeom prst="rect">
            <a:avLst>
              <a:gd name="adj" fmla="val 22222"/>
            </a:avLst>
          </a:prstGeom>
          <a:solidFill>
            <a:srgbClr val="152130"/>
          </a:solidFill>
          <a:ln w="12700">
            <a:solidFill>
              <a:srgbClr val="152130"/>
            </a:solidFill>
            <a:prstDash val="solid"/>
          </a:ln>
        </p:spPr>
      </p:sp>
      <p:sp>
        <p:nvSpPr>
          <p:cNvPr id="15" name="Text 13"/>
          <p:cNvSpPr/>
          <p:nvPr/>
        </p:nvSpPr>
        <p:spPr>
          <a:xfrm>
            <a:off x="804672" y="4005072"/>
            <a:ext cx="2057400" cy="201168"/>
          </a:xfrm>
          <a:prstGeom prst="rect">
            <a:avLst/>
          </a:prstGeom>
          <a:noFill/>
          <a:ln/>
        </p:spPr>
        <p:txBody>
          <a:bodyPr wrap="square" lIns="0" tIns="0" rIns="0" bIns="0" rtlCol="0" anchor="ctr"/>
          <a:lstStyle/>
          <a:p>
            <a:pPr indent="0" marL="0">
              <a:buNone/>
            </a:pPr>
            <a:r>
              <a:rPr lang="en-US" sz="1100" b="1" dirty="0">
                <a:solidFill>
                  <a:srgbClr val="77B7FF"/>
                </a:solidFill>
                <a:latin typeface="Aptos" pitchFamily="34" charset="0"/>
                <a:ea typeface="Aptos" pitchFamily="34" charset="-122"/>
                <a:cs typeface="Aptos" pitchFamily="34" charset="-120"/>
              </a:rPr>
              <a:t>TESTED LOCALLY</a:t>
            </a:r>
            <a:endParaRPr lang="en-US" sz="1100" dirty="0"/>
          </a:p>
        </p:txBody>
      </p:sp>
      <p:sp>
        <p:nvSpPr>
          <p:cNvPr id="16" name="Text 14"/>
          <p:cNvSpPr/>
          <p:nvPr/>
        </p:nvSpPr>
        <p:spPr>
          <a:xfrm>
            <a:off x="2926080" y="3982212"/>
            <a:ext cx="8366760" cy="265176"/>
          </a:xfrm>
          <a:prstGeom prst="rect">
            <a:avLst/>
          </a:prstGeom>
          <a:noFill/>
          <a:ln/>
        </p:spPr>
        <p:txBody>
          <a:bodyPr wrap="square" lIns="0" tIns="0" rIns="0" bIns="0" rtlCol="0" anchor="ctr"/>
          <a:lstStyle/>
          <a:p>
            <a:pPr indent="0" marL="0">
              <a:buNone/>
            </a:pPr>
            <a:r>
              <a:rPr lang="en-US" sz="1700" dirty="0">
                <a:solidFill>
                  <a:srgbClr val="F3F6FA"/>
                </a:solidFill>
                <a:latin typeface="Aptos" pitchFamily="34" charset="0"/>
                <a:ea typeface="Aptos" pitchFamily="34" charset="-122"/>
                <a:cs typeface="Aptos" pitchFamily="34" charset="-120"/>
              </a:rPr>
              <a:t>RTMP → HLS → replay → private MinIO archive</a:t>
            </a:r>
            <a:endParaRPr lang="en-US" sz="1700" dirty="0"/>
          </a:p>
        </p:txBody>
      </p:sp>
      <p:sp>
        <p:nvSpPr>
          <p:cNvPr id="17" name="Shape 15"/>
          <p:cNvSpPr/>
          <p:nvPr/>
        </p:nvSpPr>
        <p:spPr>
          <a:xfrm>
            <a:off x="594360" y="4471416"/>
            <a:ext cx="10972800" cy="493776"/>
          </a:xfrm>
          <a:prstGeom prst="rect">
            <a:avLst>
              <a:gd name="adj" fmla="val 22222"/>
            </a:avLst>
          </a:prstGeom>
          <a:solidFill>
            <a:srgbClr val="0B111B"/>
          </a:solidFill>
          <a:ln w="12700">
            <a:solidFill>
              <a:srgbClr val="0B111B"/>
            </a:solidFill>
            <a:prstDash val="solid"/>
          </a:ln>
        </p:spPr>
      </p:sp>
      <p:sp>
        <p:nvSpPr>
          <p:cNvPr id="18" name="Text 16"/>
          <p:cNvSpPr/>
          <p:nvPr/>
        </p:nvSpPr>
        <p:spPr>
          <a:xfrm>
            <a:off x="804672" y="4599432"/>
            <a:ext cx="2057400" cy="201168"/>
          </a:xfrm>
          <a:prstGeom prst="rect">
            <a:avLst/>
          </a:prstGeom>
          <a:noFill/>
          <a:ln/>
        </p:spPr>
        <p:txBody>
          <a:bodyPr wrap="square" lIns="0" tIns="0" rIns="0" bIns="0" rtlCol="0" anchor="ctr"/>
          <a:lstStyle/>
          <a:p>
            <a:pPr indent="0" marL="0">
              <a:buNone/>
            </a:pPr>
            <a:r>
              <a:rPr lang="en-US" sz="1100" b="1" dirty="0">
                <a:solidFill>
                  <a:srgbClr val="77B7FF"/>
                </a:solidFill>
                <a:latin typeface="Aptos" pitchFamily="34" charset="0"/>
                <a:ea typeface="Aptos" pitchFamily="34" charset="-122"/>
                <a:cs typeface="Aptos" pitchFamily="34" charset="-120"/>
              </a:rPr>
              <a:t>PRODUCTION NEXT</a:t>
            </a:r>
            <a:endParaRPr lang="en-US" sz="1100" dirty="0"/>
          </a:p>
        </p:txBody>
      </p:sp>
      <p:sp>
        <p:nvSpPr>
          <p:cNvPr id="19" name="Text 17"/>
          <p:cNvSpPr/>
          <p:nvPr/>
        </p:nvSpPr>
        <p:spPr>
          <a:xfrm>
            <a:off x="2926080" y="4576572"/>
            <a:ext cx="8366760" cy="265176"/>
          </a:xfrm>
          <a:prstGeom prst="rect">
            <a:avLst/>
          </a:prstGeom>
          <a:noFill/>
          <a:ln/>
        </p:spPr>
        <p:txBody>
          <a:bodyPr wrap="square" lIns="0" tIns="0" rIns="0" bIns="0" rtlCol="0" anchor="ctr"/>
          <a:lstStyle/>
          <a:p>
            <a:pPr indent="0" marL="0">
              <a:buNone/>
            </a:pPr>
            <a:r>
              <a:rPr lang="en-US" sz="1700" dirty="0">
                <a:solidFill>
                  <a:srgbClr val="F3F6FA"/>
                </a:solidFill>
                <a:latin typeface="Aptos" pitchFamily="34" charset="0"/>
                <a:ea typeface="Aptos" pitchFamily="34" charset="-122"/>
                <a:cs typeface="Aptos" pitchFamily="34" charset="-120"/>
              </a:rPr>
              <a:t>Connection settings, private bucket, HTTPS, and GoPro test</a:t>
            </a:r>
            <a:endParaRPr lang="en-US" sz="1700" dirty="0"/>
          </a:p>
        </p:txBody>
      </p:sp>
      <p:sp>
        <p:nvSpPr>
          <p:cNvPr id="20" name="Shape 18"/>
          <p:cNvSpPr/>
          <p:nvPr/>
        </p:nvSpPr>
        <p:spPr>
          <a:xfrm>
            <a:off x="594360" y="5065776"/>
            <a:ext cx="10972800" cy="493776"/>
          </a:xfrm>
          <a:prstGeom prst="rect">
            <a:avLst>
              <a:gd name="adj" fmla="val 22222"/>
            </a:avLst>
          </a:prstGeom>
          <a:solidFill>
            <a:srgbClr val="152130"/>
          </a:solidFill>
          <a:ln w="12700">
            <a:solidFill>
              <a:srgbClr val="152130"/>
            </a:solidFill>
            <a:prstDash val="solid"/>
          </a:ln>
        </p:spPr>
      </p:sp>
      <p:sp>
        <p:nvSpPr>
          <p:cNvPr id="21" name="Text 19"/>
          <p:cNvSpPr/>
          <p:nvPr/>
        </p:nvSpPr>
        <p:spPr>
          <a:xfrm>
            <a:off x="804672" y="5193792"/>
            <a:ext cx="2057400" cy="201168"/>
          </a:xfrm>
          <a:prstGeom prst="rect">
            <a:avLst/>
          </a:prstGeom>
          <a:noFill/>
          <a:ln/>
        </p:spPr>
        <p:txBody>
          <a:bodyPr wrap="square" lIns="0" tIns="0" rIns="0" bIns="0" rtlCol="0" anchor="ctr"/>
          <a:lstStyle/>
          <a:p>
            <a:pPr indent="0" marL="0">
              <a:buNone/>
            </a:pPr>
            <a:r>
              <a:rPr lang="en-US" sz="1100" b="1" dirty="0">
                <a:solidFill>
                  <a:srgbClr val="ACBACB"/>
                </a:solidFill>
                <a:latin typeface="Aptos" pitchFamily="34" charset="0"/>
                <a:ea typeface="Aptos" pitchFamily="34" charset="-122"/>
                <a:cs typeface="Aptos" pitchFamily="34" charset="-120"/>
              </a:rPr>
              <a:t>PLANNED</a:t>
            </a:r>
            <a:endParaRPr lang="en-US" sz="1100" dirty="0"/>
          </a:p>
        </p:txBody>
      </p:sp>
      <p:sp>
        <p:nvSpPr>
          <p:cNvPr id="22" name="Text 20"/>
          <p:cNvSpPr/>
          <p:nvPr/>
        </p:nvSpPr>
        <p:spPr>
          <a:xfrm>
            <a:off x="2926080" y="5170932"/>
            <a:ext cx="8366760" cy="265176"/>
          </a:xfrm>
          <a:prstGeom prst="rect">
            <a:avLst/>
          </a:prstGeom>
          <a:noFill/>
          <a:ln/>
        </p:spPr>
        <p:txBody>
          <a:bodyPr wrap="square" lIns="0" tIns="0" rIns="0" bIns="0" rtlCol="0" anchor="ctr"/>
          <a:lstStyle/>
          <a:p>
            <a:pPr indent="0" marL="0">
              <a:buNone/>
            </a:pPr>
            <a:r>
              <a:rPr lang="en-US" sz="1700" dirty="0">
                <a:solidFill>
                  <a:srgbClr val="F3F6FA"/>
                </a:solidFill>
                <a:latin typeface="Aptos" pitchFamily="34" charset="0"/>
                <a:ea typeface="Aptos" pitchFamily="34" charset="-122"/>
                <a:cs typeface="Aptos" pitchFamily="34" charset="-120"/>
              </a:rPr>
              <a:t>AI video search, automated recaps, and paid access</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CREATOR EXPERIENCE</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Your camera. Your watch link. Your library.</a:t>
            </a:r>
            <a:endParaRPr lang="en-US" sz="3500" dirty="0"/>
          </a:p>
        </p:txBody>
      </p:sp>
      <p:sp>
        <p:nvSpPr>
          <p:cNvPr id="5" name="Text 3"/>
          <p:cNvSpPr/>
          <p:nvPr/>
        </p:nvSpPr>
        <p:spPr>
          <a:xfrm>
            <a:off x="621792" y="2304288"/>
            <a:ext cx="10881360" cy="54864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A simple broadcast lifecycle with account ownership.</a:t>
            </a:r>
            <a:endParaRPr lang="en-US" sz="1600" dirty="0"/>
          </a:p>
        </p:txBody>
      </p:sp>
      <p:sp>
        <p:nvSpPr>
          <p:cNvPr id="6" name="Shape 4"/>
          <p:cNvSpPr/>
          <p:nvPr/>
        </p:nvSpPr>
        <p:spPr>
          <a:xfrm>
            <a:off x="594360" y="6373368"/>
            <a:ext cx="10972800" cy="0"/>
          </a:xfrm>
          <a:prstGeom prst="line">
            <a:avLst/>
          </a:prstGeom>
          <a:noFill/>
          <a:ln w="8890">
            <a:solidFill>
              <a:srgbClr val="304256"/>
            </a:solidFill>
            <a:prstDash val="solid"/>
          </a:ln>
        </p:spPr>
      </p:sp>
      <p:sp>
        <p:nvSpPr>
          <p:cNvPr id="7" name="Text 5"/>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8" name="Text 6"/>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06</a:t>
            </a:r>
            <a:endParaRPr lang="en-US" sz="1000" dirty="0"/>
          </a:p>
        </p:txBody>
      </p:sp>
      <p:sp>
        <p:nvSpPr>
          <p:cNvPr id="9" name="Shape 7"/>
          <p:cNvSpPr/>
          <p:nvPr/>
        </p:nvSpPr>
        <p:spPr>
          <a:xfrm>
            <a:off x="594360" y="3127248"/>
            <a:ext cx="2029968" cy="2331720"/>
          </a:xfrm>
          <a:prstGeom prst="rect">
            <a:avLst>
              <a:gd name="adj" fmla="val 5405"/>
            </a:avLst>
          </a:prstGeom>
          <a:solidFill>
            <a:srgbClr val="152130"/>
          </a:solidFill>
          <a:ln w="12700">
            <a:solidFill>
              <a:srgbClr val="152130"/>
            </a:solidFill>
            <a:prstDash val="solid"/>
          </a:ln>
        </p:spPr>
      </p:sp>
      <p:sp>
        <p:nvSpPr>
          <p:cNvPr id="10" name="Text 8"/>
          <p:cNvSpPr/>
          <p:nvPr/>
        </p:nvSpPr>
        <p:spPr>
          <a:xfrm>
            <a:off x="768096" y="3300984"/>
            <a:ext cx="1737360" cy="411480"/>
          </a:xfrm>
          <a:prstGeom prst="rect">
            <a:avLst/>
          </a:prstGeom>
          <a:noFill/>
          <a:ln/>
        </p:spPr>
        <p:txBody>
          <a:bodyPr wrap="square" lIns="0" tIns="0" rIns="0" bIns="0" rtlCol="0" anchor="ctr"/>
          <a:lstStyle/>
          <a:p>
            <a:pPr indent="0" marL="0">
              <a:buNone/>
            </a:pPr>
            <a:r>
              <a:rPr lang="en-US" sz="3000" b="1" dirty="0">
                <a:solidFill>
                  <a:srgbClr val="D9FF65"/>
                </a:solidFill>
                <a:latin typeface="Aptos" pitchFamily="34" charset="0"/>
                <a:ea typeface="Aptos" pitchFamily="34" charset="-122"/>
                <a:cs typeface="Aptos" pitchFamily="34" charset="-120"/>
              </a:rPr>
              <a:t>01</a:t>
            </a:r>
            <a:endParaRPr lang="en-US" sz="3000" dirty="0"/>
          </a:p>
        </p:txBody>
      </p:sp>
      <p:sp>
        <p:nvSpPr>
          <p:cNvPr id="11" name="Text 9"/>
          <p:cNvSpPr/>
          <p:nvPr/>
        </p:nvSpPr>
        <p:spPr>
          <a:xfrm>
            <a:off x="768096" y="3913632"/>
            <a:ext cx="1737360" cy="228600"/>
          </a:xfrm>
          <a:prstGeom prst="rect">
            <a:avLst/>
          </a:prstGeom>
          <a:noFill/>
          <a:ln/>
        </p:spPr>
        <p:txBody>
          <a:bodyPr wrap="square" lIns="0" tIns="0" rIns="0" bIns="0" rtlCol="0" anchor="ctr"/>
          <a:lstStyle/>
          <a:p>
            <a:pPr indent="0" marL="0">
              <a:buNone/>
            </a:pPr>
            <a:r>
              <a:rPr lang="en-US" sz="1200" b="1" dirty="0">
                <a:solidFill>
                  <a:srgbClr val="77B7FF"/>
                </a:solidFill>
                <a:latin typeface="Aptos" pitchFamily="34" charset="0"/>
                <a:ea typeface="Aptos" pitchFamily="34" charset="-122"/>
                <a:cs typeface="Aptos" pitchFamily="34" charset="-120"/>
              </a:rPr>
              <a:t>SIGN IN</a:t>
            </a:r>
            <a:endParaRPr lang="en-US" sz="1200" dirty="0"/>
          </a:p>
        </p:txBody>
      </p:sp>
      <p:sp>
        <p:nvSpPr>
          <p:cNvPr id="12" name="Text 10"/>
          <p:cNvSpPr/>
          <p:nvPr/>
        </p:nvSpPr>
        <p:spPr>
          <a:xfrm>
            <a:off x="768096" y="4370832"/>
            <a:ext cx="1691640" cy="822960"/>
          </a:xfrm>
          <a:prstGeom prst="rect">
            <a:avLst/>
          </a:prstGeom>
          <a:noFill/>
          <a:ln/>
        </p:spPr>
        <p:txBody>
          <a:bodyPr wrap="square" lIns="0" tIns="0" rIns="0" bIns="0" rtlCol="0" anchor="ctr"/>
          <a:lstStyle/>
          <a:p>
            <a:pPr indent="0" marL="0">
              <a:buNone/>
            </a:pPr>
            <a:r>
              <a:rPr lang="en-US" sz="1600" dirty="0">
                <a:solidFill>
                  <a:srgbClr val="F3F6FA"/>
                </a:solidFill>
                <a:latin typeface="Aptos" pitchFamily="34" charset="0"/>
                <a:ea typeface="Aptos" pitchFamily="34" charset="-122"/>
                <a:cs typeface="Aptos" pitchFamily="34" charset="-120"/>
              </a:rPr>
              <a:t>Open your personal dashboard.</a:t>
            </a:r>
            <a:endParaRPr lang="en-US" sz="1600" dirty="0"/>
          </a:p>
        </p:txBody>
      </p:sp>
      <p:sp>
        <p:nvSpPr>
          <p:cNvPr id="13" name="Shape 11"/>
          <p:cNvSpPr/>
          <p:nvPr/>
        </p:nvSpPr>
        <p:spPr>
          <a:xfrm>
            <a:off x="2816352" y="3127248"/>
            <a:ext cx="2029968" cy="2331720"/>
          </a:xfrm>
          <a:prstGeom prst="rect">
            <a:avLst>
              <a:gd name="adj" fmla="val 5405"/>
            </a:avLst>
          </a:prstGeom>
          <a:solidFill>
            <a:srgbClr val="152130"/>
          </a:solidFill>
          <a:ln w="12700">
            <a:solidFill>
              <a:srgbClr val="152130"/>
            </a:solidFill>
            <a:prstDash val="solid"/>
          </a:ln>
        </p:spPr>
      </p:sp>
      <p:sp>
        <p:nvSpPr>
          <p:cNvPr id="14" name="Text 12"/>
          <p:cNvSpPr/>
          <p:nvPr/>
        </p:nvSpPr>
        <p:spPr>
          <a:xfrm>
            <a:off x="2990088" y="3300984"/>
            <a:ext cx="1737360" cy="411480"/>
          </a:xfrm>
          <a:prstGeom prst="rect">
            <a:avLst/>
          </a:prstGeom>
          <a:noFill/>
          <a:ln/>
        </p:spPr>
        <p:txBody>
          <a:bodyPr wrap="square" lIns="0" tIns="0" rIns="0" bIns="0" rtlCol="0" anchor="ctr"/>
          <a:lstStyle/>
          <a:p>
            <a:pPr indent="0" marL="0">
              <a:buNone/>
            </a:pPr>
            <a:r>
              <a:rPr lang="en-US" sz="3000" b="1" dirty="0">
                <a:solidFill>
                  <a:srgbClr val="D9FF65"/>
                </a:solidFill>
                <a:latin typeface="Aptos" pitchFamily="34" charset="0"/>
                <a:ea typeface="Aptos" pitchFamily="34" charset="-122"/>
                <a:cs typeface="Aptos" pitchFamily="34" charset="-120"/>
              </a:rPr>
              <a:t>02</a:t>
            </a:r>
            <a:endParaRPr lang="en-US" sz="3000" dirty="0"/>
          </a:p>
        </p:txBody>
      </p:sp>
      <p:sp>
        <p:nvSpPr>
          <p:cNvPr id="15" name="Text 13"/>
          <p:cNvSpPr/>
          <p:nvPr/>
        </p:nvSpPr>
        <p:spPr>
          <a:xfrm>
            <a:off x="2990088" y="3913632"/>
            <a:ext cx="1737360" cy="228600"/>
          </a:xfrm>
          <a:prstGeom prst="rect">
            <a:avLst/>
          </a:prstGeom>
          <a:noFill/>
          <a:ln/>
        </p:spPr>
        <p:txBody>
          <a:bodyPr wrap="square" lIns="0" tIns="0" rIns="0" bIns="0" rtlCol="0" anchor="ctr"/>
          <a:lstStyle/>
          <a:p>
            <a:pPr indent="0" marL="0">
              <a:buNone/>
            </a:pPr>
            <a:r>
              <a:rPr lang="en-US" sz="1200" b="1" dirty="0">
                <a:solidFill>
                  <a:srgbClr val="77B7FF"/>
                </a:solidFill>
                <a:latin typeface="Aptos" pitchFamily="34" charset="0"/>
                <a:ea typeface="Aptos" pitchFamily="34" charset="-122"/>
                <a:cs typeface="Aptos" pitchFamily="34" charset="-120"/>
              </a:rPr>
              <a:t>CREATE</a:t>
            </a:r>
            <a:endParaRPr lang="en-US" sz="1200" dirty="0"/>
          </a:p>
        </p:txBody>
      </p:sp>
      <p:sp>
        <p:nvSpPr>
          <p:cNvPr id="16" name="Text 14"/>
          <p:cNvSpPr/>
          <p:nvPr/>
        </p:nvSpPr>
        <p:spPr>
          <a:xfrm>
            <a:off x="2990088" y="4370832"/>
            <a:ext cx="1691640" cy="822960"/>
          </a:xfrm>
          <a:prstGeom prst="rect">
            <a:avLst/>
          </a:prstGeom>
          <a:noFill/>
          <a:ln/>
        </p:spPr>
        <p:txBody>
          <a:bodyPr wrap="square" lIns="0" tIns="0" rIns="0" bIns="0" rtlCol="0" anchor="ctr"/>
          <a:lstStyle/>
          <a:p>
            <a:pPr indent="0" marL="0">
              <a:buNone/>
            </a:pPr>
            <a:r>
              <a:rPr lang="en-US" sz="1600" dirty="0">
                <a:solidFill>
                  <a:srgbClr val="F3F6FA"/>
                </a:solidFill>
                <a:latin typeface="Aptos" pitchFamily="34" charset="0"/>
                <a:ea typeface="Aptos" pitchFamily="34" charset="-122"/>
                <a:cs typeface="Aptos" pitchFamily="34" charset="-120"/>
              </a:rPr>
              <a:t>Name the game and confirm permission.</a:t>
            </a:r>
            <a:endParaRPr lang="en-US" sz="1600" dirty="0"/>
          </a:p>
        </p:txBody>
      </p:sp>
      <p:sp>
        <p:nvSpPr>
          <p:cNvPr id="17" name="Shape 15"/>
          <p:cNvSpPr/>
          <p:nvPr/>
        </p:nvSpPr>
        <p:spPr>
          <a:xfrm>
            <a:off x="5038344" y="3127248"/>
            <a:ext cx="2029968" cy="2331720"/>
          </a:xfrm>
          <a:prstGeom prst="rect">
            <a:avLst>
              <a:gd name="adj" fmla="val 5405"/>
            </a:avLst>
          </a:prstGeom>
          <a:solidFill>
            <a:srgbClr val="152130"/>
          </a:solidFill>
          <a:ln w="12700">
            <a:solidFill>
              <a:srgbClr val="152130"/>
            </a:solidFill>
            <a:prstDash val="solid"/>
          </a:ln>
        </p:spPr>
      </p:sp>
      <p:sp>
        <p:nvSpPr>
          <p:cNvPr id="18" name="Text 16"/>
          <p:cNvSpPr/>
          <p:nvPr/>
        </p:nvSpPr>
        <p:spPr>
          <a:xfrm>
            <a:off x="5212080" y="3300984"/>
            <a:ext cx="1737360" cy="411480"/>
          </a:xfrm>
          <a:prstGeom prst="rect">
            <a:avLst/>
          </a:prstGeom>
          <a:noFill/>
          <a:ln/>
        </p:spPr>
        <p:txBody>
          <a:bodyPr wrap="square" lIns="0" tIns="0" rIns="0" bIns="0" rtlCol="0" anchor="ctr"/>
          <a:lstStyle/>
          <a:p>
            <a:pPr indent="0" marL="0">
              <a:buNone/>
            </a:pPr>
            <a:r>
              <a:rPr lang="en-US" sz="3000" b="1" dirty="0">
                <a:solidFill>
                  <a:srgbClr val="D9FF65"/>
                </a:solidFill>
                <a:latin typeface="Aptos" pitchFamily="34" charset="0"/>
                <a:ea typeface="Aptos" pitchFamily="34" charset="-122"/>
                <a:cs typeface="Aptos" pitchFamily="34" charset="-120"/>
              </a:rPr>
              <a:t>03</a:t>
            </a:r>
            <a:endParaRPr lang="en-US" sz="3000" dirty="0"/>
          </a:p>
        </p:txBody>
      </p:sp>
      <p:sp>
        <p:nvSpPr>
          <p:cNvPr id="19" name="Text 17"/>
          <p:cNvSpPr/>
          <p:nvPr/>
        </p:nvSpPr>
        <p:spPr>
          <a:xfrm>
            <a:off x="5212080" y="3913632"/>
            <a:ext cx="1737360" cy="228600"/>
          </a:xfrm>
          <a:prstGeom prst="rect">
            <a:avLst/>
          </a:prstGeom>
          <a:noFill/>
          <a:ln/>
        </p:spPr>
        <p:txBody>
          <a:bodyPr wrap="square" lIns="0" tIns="0" rIns="0" bIns="0" rtlCol="0" anchor="ctr"/>
          <a:lstStyle/>
          <a:p>
            <a:pPr indent="0" marL="0">
              <a:buNone/>
            </a:pPr>
            <a:r>
              <a:rPr lang="en-US" sz="1200" b="1" dirty="0">
                <a:solidFill>
                  <a:srgbClr val="77B7FF"/>
                </a:solidFill>
                <a:latin typeface="Aptos" pitchFamily="34" charset="0"/>
                <a:ea typeface="Aptos" pitchFamily="34" charset="-122"/>
                <a:cs typeface="Aptos" pitchFamily="34" charset="-120"/>
              </a:rPr>
              <a:t>CONNECT</a:t>
            </a:r>
            <a:endParaRPr lang="en-US" sz="1200" dirty="0"/>
          </a:p>
        </p:txBody>
      </p:sp>
      <p:sp>
        <p:nvSpPr>
          <p:cNvPr id="20" name="Text 18"/>
          <p:cNvSpPr/>
          <p:nvPr/>
        </p:nvSpPr>
        <p:spPr>
          <a:xfrm>
            <a:off x="5212080" y="4370832"/>
            <a:ext cx="1691640" cy="822960"/>
          </a:xfrm>
          <a:prstGeom prst="rect">
            <a:avLst/>
          </a:prstGeom>
          <a:noFill/>
          <a:ln/>
        </p:spPr>
        <p:txBody>
          <a:bodyPr wrap="square" lIns="0" tIns="0" rIns="0" bIns="0" rtlCol="0" anchor="ctr"/>
          <a:lstStyle/>
          <a:p>
            <a:pPr indent="0" marL="0">
              <a:buNone/>
            </a:pPr>
            <a:r>
              <a:rPr lang="en-US" sz="1600" dirty="0">
                <a:solidFill>
                  <a:srgbClr val="F3F6FA"/>
                </a:solidFill>
                <a:latin typeface="Aptos" pitchFamily="34" charset="0"/>
                <a:ea typeface="Aptos" pitchFamily="34" charset="-122"/>
                <a:cs typeface="Aptos" pitchFamily="34" charset="-120"/>
              </a:rPr>
              <a:t>Paste the private address into GoPro Quik.</a:t>
            </a:r>
            <a:endParaRPr lang="en-US" sz="1600" dirty="0"/>
          </a:p>
        </p:txBody>
      </p:sp>
      <p:sp>
        <p:nvSpPr>
          <p:cNvPr id="21" name="Shape 19"/>
          <p:cNvSpPr/>
          <p:nvPr/>
        </p:nvSpPr>
        <p:spPr>
          <a:xfrm>
            <a:off x="7260336" y="3127248"/>
            <a:ext cx="2029968" cy="2331720"/>
          </a:xfrm>
          <a:prstGeom prst="rect">
            <a:avLst>
              <a:gd name="adj" fmla="val 5405"/>
            </a:avLst>
          </a:prstGeom>
          <a:solidFill>
            <a:srgbClr val="152130"/>
          </a:solidFill>
          <a:ln w="12700">
            <a:solidFill>
              <a:srgbClr val="152130"/>
            </a:solidFill>
            <a:prstDash val="solid"/>
          </a:ln>
        </p:spPr>
      </p:sp>
      <p:sp>
        <p:nvSpPr>
          <p:cNvPr id="22" name="Text 20"/>
          <p:cNvSpPr/>
          <p:nvPr/>
        </p:nvSpPr>
        <p:spPr>
          <a:xfrm>
            <a:off x="7434072" y="3300984"/>
            <a:ext cx="1737360" cy="411480"/>
          </a:xfrm>
          <a:prstGeom prst="rect">
            <a:avLst/>
          </a:prstGeom>
          <a:noFill/>
          <a:ln/>
        </p:spPr>
        <p:txBody>
          <a:bodyPr wrap="square" lIns="0" tIns="0" rIns="0" bIns="0" rtlCol="0" anchor="ctr"/>
          <a:lstStyle/>
          <a:p>
            <a:pPr indent="0" marL="0">
              <a:buNone/>
            </a:pPr>
            <a:r>
              <a:rPr lang="en-US" sz="3000" b="1" dirty="0">
                <a:solidFill>
                  <a:srgbClr val="D9FF65"/>
                </a:solidFill>
                <a:latin typeface="Aptos" pitchFamily="34" charset="0"/>
                <a:ea typeface="Aptos" pitchFamily="34" charset="-122"/>
                <a:cs typeface="Aptos" pitchFamily="34" charset="-120"/>
              </a:rPr>
              <a:t>04</a:t>
            </a:r>
            <a:endParaRPr lang="en-US" sz="3000" dirty="0"/>
          </a:p>
        </p:txBody>
      </p:sp>
      <p:sp>
        <p:nvSpPr>
          <p:cNvPr id="23" name="Text 21"/>
          <p:cNvSpPr/>
          <p:nvPr/>
        </p:nvSpPr>
        <p:spPr>
          <a:xfrm>
            <a:off x="7434072" y="3913632"/>
            <a:ext cx="1737360" cy="228600"/>
          </a:xfrm>
          <a:prstGeom prst="rect">
            <a:avLst/>
          </a:prstGeom>
          <a:noFill/>
          <a:ln/>
        </p:spPr>
        <p:txBody>
          <a:bodyPr wrap="square" lIns="0" tIns="0" rIns="0" bIns="0" rtlCol="0" anchor="ctr"/>
          <a:lstStyle/>
          <a:p>
            <a:pPr indent="0" marL="0">
              <a:buNone/>
            </a:pPr>
            <a:r>
              <a:rPr lang="en-US" sz="1200" b="1" dirty="0">
                <a:solidFill>
                  <a:srgbClr val="77B7FF"/>
                </a:solidFill>
                <a:latin typeface="Aptos" pitchFamily="34" charset="0"/>
                <a:ea typeface="Aptos" pitchFamily="34" charset="-122"/>
                <a:cs typeface="Aptos" pitchFamily="34" charset="-120"/>
              </a:rPr>
              <a:t>SHARE</a:t>
            </a:r>
            <a:endParaRPr lang="en-US" sz="1200" dirty="0"/>
          </a:p>
        </p:txBody>
      </p:sp>
      <p:sp>
        <p:nvSpPr>
          <p:cNvPr id="24" name="Text 22"/>
          <p:cNvSpPr/>
          <p:nvPr/>
        </p:nvSpPr>
        <p:spPr>
          <a:xfrm>
            <a:off x="7434072" y="4370832"/>
            <a:ext cx="1691640" cy="822960"/>
          </a:xfrm>
          <a:prstGeom prst="rect">
            <a:avLst/>
          </a:prstGeom>
          <a:noFill/>
          <a:ln/>
        </p:spPr>
        <p:txBody>
          <a:bodyPr wrap="square" lIns="0" tIns="0" rIns="0" bIns="0" rtlCol="0" anchor="ctr"/>
          <a:lstStyle/>
          <a:p>
            <a:pPr indent="0" marL="0">
              <a:buNone/>
            </a:pPr>
            <a:r>
              <a:rPr lang="en-US" sz="1600" dirty="0">
                <a:solidFill>
                  <a:srgbClr val="F3F6FA"/>
                </a:solidFill>
                <a:latin typeface="Aptos" pitchFamily="34" charset="0"/>
                <a:ea typeface="Aptos" pitchFamily="34" charset="-122"/>
                <a:cs typeface="Aptos" pitchFamily="34" charset="-120"/>
              </a:rPr>
              <a:t>Send the public watch link to viewers.</a:t>
            </a:r>
            <a:endParaRPr lang="en-US" sz="1600" dirty="0"/>
          </a:p>
        </p:txBody>
      </p:sp>
      <p:sp>
        <p:nvSpPr>
          <p:cNvPr id="25" name="Shape 23"/>
          <p:cNvSpPr/>
          <p:nvPr/>
        </p:nvSpPr>
        <p:spPr>
          <a:xfrm>
            <a:off x="9482328" y="3127248"/>
            <a:ext cx="2029968" cy="2331720"/>
          </a:xfrm>
          <a:prstGeom prst="rect">
            <a:avLst>
              <a:gd name="adj" fmla="val 5405"/>
            </a:avLst>
          </a:prstGeom>
          <a:solidFill>
            <a:srgbClr val="152130"/>
          </a:solidFill>
          <a:ln w="12700">
            <a:solidFill>
              <a:srgbClr val="152130"/>
            </a:solidFill>
            <a:prstDash val="solid"/>
          </a:ln>
        </p:spPr>
      </p:sp>
      <p:sp>
        <p:nvSpPr>
          <p:cNvPr id="26" name="Text 24"/>
          <p:cNvSpPr/>
          <p:nvPr/>
        </p:nvSpPr>
        <p:spPr>
          <a:xfrm>
            <a:off x="9656064" y="3300984"/>
            <a:ext cx="1737360" cy="411480"/>
          </a:xfrm>
          <a:prstGeom prst="rect">
            <a:avLst/>
          </a:prstGeom>
          <a:noFill/>
          <a:ln/>
        </p:spPr>
        <p:txBody>
          <a:bodyPr wrap="square" lIns="0" tIns="0" rIns="0" bIns="0" rtlCol="0" anchor="ctr"/>
          <a:lstStyle/>
          <a:p>
            <a:pPr indent="0" marL="0">
              <a:buNone/>
            </a:pPr>
            <a:r>
              <a:rPr lang="en-US" sz="3000" b="1" dirty="0">
                <a:solidFill>
                  <a:srgbClr val="D9FF65"/>
                </a:solidFill>
                <a:latin typeface="Aptos" pitchFamily="34" charset="0"/>
                <a:ea typeface="Aptos" pitchFamily="34" charset="-122"/>
                <a:cs typeface="Aptos" pitchFamily="34" charset="-120"/>
              </a:rPr>
              <a:t>05</a:t>
            </a:r>
            <a:endParaRPr lang="en-US" sz="3000" dirty="0"/>
          </a:p>
        </p:txBody>
      </p:sp>
      <p:sp>
        <p:nvSpPr>
          <p:cNvPr id="27" name="Text 25"/>
          <p:cNvSpPr/>
          <p:nvPr/>
        </p:nvSpPr>
        <p:spPr>
          <a:xfrm>
            <a:off x="9656064" y="3913632"/>
            <a:ext cx="1737360" cy="228600"/>
          </a:xfrm>
          <a:prstGeom prst="rect">
            <a:avLst/>
          </a:prstGeom>
          <a:noFill/>
          <a:ln/>
        </p:spPr>
        <p:txBody>
          <a:bodyPr wrap="square" lIns="0" tIns="0" rIns="0" bIns="0" rtlCol="0" anchor="ctr"/>
          <a:lstStyle/>
          <a:p>
            <a:pPr indent="0" marL="0">
              <a:buNone/>
            </a:pPr>
            <a:r>
              <a:rPr lang="en-US" sz="1200" b="1" dirty="0">
                <a:solidFill>
                  <a:srgbClr val="77B7FF"/>
                </a:solidFill>
                <a:latin typeface="Aptos" pitchFamily="34" charset="0"/>
                <a:ea typeface="Aptos" pitchFamily="34" charset="-122"/>
                <a:cs typeface="Aptos" pitchFamily="34" charset="-120"/>
              </a:rPr>
              <a:t>KEEP</a:t>
            </a:r>
            <a:endParaRPr lang="en-US" sz="1200" dirty="0"/>
          </a:p>
        </p:txBody>
      </p:sp>
      <p:sp>
        <p:nvSpPr>
          <p:cNvPr id="28" name="Text 26"/>
          <p:cNvSpPr/>
          <p:nvPr/>
        </p:nvSpPr>
        <p:spPr>
          <a:xfrm>
            <a:off x="9656064" y="4370832"/>
            <a:ext cx="1691640" cy="822960"/>
          </a:xfrm>
          <a:prstGeom prst="rect">
            <a:avLst/>
          </a:prstGeom>
          <a:noFill/>
          <a:ln/>
        </p:spPr>
        <p:txBody>
          <a:bodyPr wrap="square" lIns="0" tIns="0" rIns="0" bIns="0" rtlCol="0" anchor="ctr"/>
          <a:lstStyle/>
          <a:p>
            <a:pPr indent="0" marL="0">
              <a:buNone/>
            </a:pPr>
            <a:r>
              <a:rPr lang="en-US" sz="1600" dirty="0">
                <a:solidFill>
                  <a:srgbClr val="F3F6FA"/>
                </a:solidFill>
                <a:latin typeface="Aptos" pitchFamily="34" charset="0"/>
                <a:ea typeface="Aptos" pitchFamily="34" charset="-122"/>
                <a:cs typeface="Aptos" pitchFamily="34" charset="-120"/>
              </a:rPr>
              <a:t>End the stream and save the recording.</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SELF-HOSTED INFRASTRUCTURE</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Existing infrastructure. A real video workflow.</a:t>
            </a:r>
            <a:endParaRPr lang="en-US" sz="3500" dirty="0"/>
          </a:p>
        </p:txBody>
      </p:sp>
      <p:sp>
        <p:nvSpPr>
          <p:cNvPr id="5" name="Text 3"/>
          <p:cNvSpPr/>
          <p:nvPr/>
        </p:nvSpPr>
        <p:spPr>
          <a:xfrm>
            <a:off x="621792" y="2304288"/>
            <a:ext cx="10881360" cy="54864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No managed-streaming subscription is required; hosting, storage, and bandwidth still cost money.</a:t>
            </a:r>
            <a:endParaRPr lang="en-US" sz="1600" dirty="0"/>
          </a:p>
        </p:txBody>
      </p:sp>
      <p:sp>
        <p:nvSpPr>
          <p:cNvPr id="6" name="Shape 4"/>
          <p:cNvSpPr/>
          <p:nvPr/>
        </p:nvSpPr>
        <p:spPr>
          <a:xfrm>
            <a:off x="594360" y="6373368"/>
            <a:ext cx="10972800" cy="0"/>
          </a:xfrm>
          <a:prstGeom prst="line">
            <a:avLst/>
          </a:prstGeom>
          <a:noFill/>
          <a:ln w="8890">
            <a:solidFill>
              <a:srgbClr val="304256"/>
            </a:solidFill>
            <a:prstDash val="solid"/>
          </a:ln>
        </p:spPr>
      </p:sp>
      <p:sp>
        <p:nvSpPr>
          <p:cNvPr id="7" name="Text 5"/>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8" name="Text 6"/>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07</a:t>
            </a:r>
            <a:endParaRPr lang="en-US" sz="1000" dirty="0"/>
          </a:p>
        </p:txBody>
      </p:sp>
      <p:sp>
        <p:nvSpPr>
          <p:cNvPr id="9" name="Shape 7"/>
          <p:cNvSpPr/>
          <p:nvPr/>
        </p:nvSpPr>
        <p:spPr>
          <a:xfrm>
            <a:off x="594360" y="3063240"/>
            <a:ext cx="3429000" cy="1078992"/>
          </a:xfrm>
          <a:prstGeom prst="rect">
            <a:avLst>
              <a:gd name="adj" fmla="val 10169"/>
            </a:avLst>
          </a:prstGeom>
          <a:solidFill>
            <a:srgbClr val="152130"/>
          </a:solidFill>
          <a:ln w="12700">
            <a:solidFill>
              <a:srgbClr val="152130"/>
            </a:solidFill>
            <a:prstDash val="solid"/>
          </a:ln>
        </p:spPr>
      </p:sp>
      <p:sp>
        <p:nvSpPr>
          <p:cNvPr id="10" name="Text 8"/>
          <p:cNvSpPr/>
          <p:nvPr/>
        </p:nvSpPr>
        <p:spPr>
          <a:xfrm>
            <a:off x="777240" y="3236976"/>
            <a:ext cx="2971800" cy="228600"/>
          </a:xfrm>
          <a:prstGeom prst="rect">
            <a:avLst/>
          </a:prstGeom>
          <a:noFill/>
          <a:ln/>
        </p:spPr>
        <p:txBody>
          <a:bodyPr wrap="square" lIns="0" tIns="0" rIns="0" bIns="0" rtlCol="0" anchor="ctr"/>
          <a:lstStyle/>
          <a:p>
            <a:pPr indent="0" marL="0">
              <a:buNone/>
            </a:pPr>
            <a:r>
              <a:rPr lang="en-US" sz="1100" b="1" dirty="0">
                <a:solidFill>
                  <a:srgbClr val="77B7FF"/>
                </a:solidFill>
                <a:latin typeface="Aptos" pitchFamily="34" charset="0"/>
                <a:ea typeface="Aptos" pitchFamily="34" charset="-122"/>
                <a:cs typeface="Aptos" pitchFamily="34" charset="-120"/>
              </a:rPr>
              <a:t>CAMERA</a:t>
            </a:r>
            <a:endParaRPr lang="en-US" sz="1100" dirty="0"/>
          </a:p>
        </p:txBody>
      </p:sp>
      <p:sp>
        <p:nvSpPr>
          <p:cNvPr id="11" name="Text 9"/>
          <p:cNvSpPr/>
          <p:nvPr/>
        </p:nvSpPr>
        <p:spPr>
          <a:xfrm>
            <a:off x="777240" y="3611880"/>
            <a:ext cx="2971800" cy="320040"/>
          </a:xfrm>
          <a:prstGeom prst="rect">
            <a:avLst/>
          </a:prstGeom>
          <a:noFill/>
          <a:ln/>
        </p:spPr>
        <p:txBody>
          <a:bodyPr wrap="square" lIns="0" tIns="0" rIns="0" bIns="0" rtlCol="0" anchor="ctr"/>
          <a:lstStyle/>
          <a:p>
            <a:pPr indent="0" marL="0">
              <a:buNone/>
            </a:pPr>
            <a:r>
              <a:rPr lang="en-US" sz="2400" b="1" dirty="0">
                <a:solidFill>
                  <a:srgbClr val="F3F6FA"/>
                </a:solidFill>
                <a:latin typeface="Aptos" pitchFamily="34" charset="0"/>
                <a:ea typeface="Aptos" pitchFamily="34" charset="-122"/>
                <a:cs typeface="Aptos" pitchFamily="34" charset="-120"/>
              </a:rPr>
              <a:t>GoPro / RTMP</a:t>
            </a:r>
            <a:endParaRPr lang="en-US" sz="2400" dirty="0"/>
          </a:p>
        </p:txBody>
      </p:sp>
      <p:sp>
        <p:nvSpPr>
          <p:cNvPr id="12" name="Text 10"/>
          <p:cNvSpPr/>
          <p:nvPr/>
        </p:nvSpPr>
        <p:spPr>
          <a:xfrm>
            <a:off x="4050792" y="3438144"/>
            <a:ext cx="301752" cy="274320"/>
          </a:xfrm>
          <a:prstGeom prst="rect">
            <a:avLst/>
          </a:prstGeom>
          <a:noFill/>
          <a:ln/>
        </p:spPr>
        <p:txBody>
          <a:bodyPr wrap="square" lIns="0" tIns="0" rIns="0" bIns="0" rtlCol="0" anchor="ctr"/>
          <a:lstStyle/>
          <a:p>
            <a:pPr indent="0" marL="0">
              <a:buNone/>
            </a:pPr>
            <a:r>
              <a:rPr lang="en-US" sz="2400" dirty="0">
                <a:solidFill>
                  <a:srgbClr val="D9FF65"/>
                </a:solidFill>
                <a:latin typeface="Aptos" pitchFamily="34" charset="0"/>
                <a:ea typeface="Aptos" pitchFamily="34" charset="-122"/>
                <a:cs typeface="Aptos" pitchFamily="34" charset="-120"/>
              </a:rPr>
              <a:t>→</a:t>
            </a:r>
            <a:endParaRPr lang="en-US" sz="2400" dirty="0"/>
          </a:p>
        </p:txBody>
      </p:sp>
      <p:sp>
        <p:nvSpPr>
          <p:cNvPr id="13" name="Shape 11"/>
          <p:cNvSpPr/>
          <p:nvPr/>
        </p:nvSpPr>
        <p:spPr>
          <a:xfrm>
            <a:off x="4361688" y="3063240"/>
            <a:ext cx="3429000" cy="1078992"/>
          </a:xfrm>
          <a:prstGeom prst="rect">
            <a:avLst>
              <a:gd name="adj" fmla="val 10169"/>
            </a:avLst>
          </a:prstGeom>
          <a:solidFill>
            <a:srgbClr val="152130"/>
          </a:solidFill>
          <a:ln w="12700">
            <a:solidFill>
              <a:srgbClr val="152130"/>
            </a:solidFill>
            <a:prstDash val="solid"/>
          </a:ln>
        </p:spPr>
      </p:sp>
      <p:sp>
        <p:nvSpPr>
          <p:cNvPr id="14" name="Text 12"/>
          <p:cNvSpPr/>
          <p:nvPr/>
        </p:nvSpPr>
        <p:spPr>
          <a:xfrm>
            <a:off x="4544568" y="3236976"/>
            <a:ext cx="2971800" cy="228600"/>
          </a:xfrm>
          <a:prstGeom prst="rect">
            <a:avLst/>
          </a:prstGeom>
          <a:noFill/>
          <a:ln/>
        </p:spPr>
        <p:txBody>
          <a:bodyPr wrap="square" lIns="0" tIns="0" rIns="0" bIns="0" rtlCol="0" anchor="ctr"/>
          <a:lstStyle/>
          <a:p>
            <a:pPr indent="0" marL="0">
              <a:buNone/>
            </a:pPr>
            <a:r>
              <a:rPr lang="en-US" sz="1100" b="1" dirty="0">
                <a:solidFill>
                  <a:srgbClr val="77B7FF"/>
                </a:solidFill>
                <a:latin typeface="Aptos" pitchFamily="34" charset="0"/>
                <a:ea typeface="Aptos" pitchFamily="34" charset="-122"/>
                <a:cs typeface="Aptos" pitchFamily="34" charset="-120"/>
              </a:rPr>
              <a:t>MEDIA SERVER</a:t>
            </a:r>
            <a:endParaRPr lang="en-US" sz="1100" dirty="0"/>
          </a:p>
        </p:txBody>
      </p:sp>
      <p:sp>
        <p:nvSpPr>
          <p:cNvPr id="15" name="Text 13"/>
          <p:cNvSpPr/>
          <p:nvPr/>
        </p:nvSpPr>
        <p:spPr>
          <a:xfrm>
            <a:off x="4544568" y="3611880"/>
            <a:ext cx="2971800" cy="320040"/>
          </a:xfrm>
          <a:prstGeom prst="rect">
            <a:avLst/>
          </a:prstGeom>
          <a:noFill/>
          <a:ln/>
        </p:spPr>
        <p:txBody>
          <a:bodyPr wrap="square" lIns="0" tIns="0" rIns="0" bIns="0" rtlCol="0" anchor="ctr"/>
          <a:lstStyle/>
          <a:p>
            <a:pPr indent="0" marL="0">
              <a:buNone/>
            </a:pPr>
            <a:r>
              <a:rPr lang="en-US" sz="2400" b="1" dirty="0">
                <a:solidFill>
                  <a:srgbClr val="F3F6FA"/>
                </a:solidFill>
                <a:latin typeface="Aptos" pitchFamily="34" charset="0"/>
                <a:ea typeface="Aptos" pitchFamily="34" charset="-122"/>
                <a:cs typeface="Aptos" pitchFamily="34" charset="-120"/>
              </a:rPr>
              <a:t>MediaMTX</a:t>
            </a:r>
            <a:endParaRPr lang="en-US" sz="2400" dirty="0"/>
          </a:p>
        </p:txBody>
      </p:sp>
      <p:sp>
        <p:nvSpPr>
          <p:cNvPr id="16" name="Text 14"/>
          <p:cNvSpPr/>
          <p:nvPr/>
        </p:nvSpPr>
        <p:spPr>
          <a:xfrm>
            <a:off x="7818120" y="3438144"/>
            <a:ext cx="301752" cy="274320"/>
          </a:xfrm>
          <a:prstGeom prst="rect">
            <a:avLst/>
          </a:prstGeom>
          <a:noFill/>
          <a:ln/>
        </p:spPr>
        <p:txBody>
          <a:bodyPr wrap="square" lIns="0" tIns="0" rIns="0" bIns="0" rtlCol="0" anchor="ctr"/>
          <a:lstStyle/>
          <a:p>
            <a:pPr indent="0" marL="0">
              <a:buNone/>
            </a:pPr>
            <a:r>
              <a:rPr lang="en-US" sz="2400" dirty="0">
                <a:solidFill>
                  <a:srgbClr val="D9FF65"/>
                </a:solidFill>
                <a:latin typeface="Aptos" pitchFamily="34" charset="0"/>
                <a:ea typeface="Aptos" pitchFamily="34" charset="-122"/>
                <a:cs typeface="Aptos" pitchFamily="34" charset="-120"/>
              </a:rPr>
              <a:t>→</a:t>
            </a:r>
            <a:endParaRPr lang="en-US" sz="2400" dirty="0"/>
          </a:p>
        </p:txBody>
      </p:sp>
      <p:sp>
        <p:nvSpPr>
          <p:cNvPr id="17" name="Shape 15"/>
          <p:cNvSpPr/>
          <p:nvPr/>
        </p:nvSpPr>
        <p:spPr>
          <a:xfrm>
            <a:off x="8129016" y="3063240"/>
            <a:ext cx="3429000" cy="1078992"/>
          </a:xfrm>
          <a:prstGeom prst="rect">
            <a:avLst>
              <a:gd name="adj" fmla="val 10169"/>
            </a:avLst>
          </a:prstGeom>
          <a:solidFill>
            <a:srgbClr val="152130"/>
          </a:solidFill>
          <a:ln w="12700">
            <a:solidFill>
              <a:srgbClr val="152130"/>
            </a:solidFill>
            <a:prstDash val="solid"/>
          </a:ln>
        </p:spPr>
      </p:sp>
      <p:sp>
        <p:nvSpPr>
          <p:cNvPr id="18" name="Text 16"/>
          <p:cNvSpPr/>
          <p:nvPr/>
        </p:nvSpPr>
        <p:spPr>
          <a:xfrm>
            <a:off x="8311896" y="3236976"/>
            <a:ext cx="2971800" cy="228600"/>
          </a:xfrm>
          <a:prstGeom prst="rect">
            <a:avLst/>
          </a:prstGeom>
          <a:noFill/>
          <a:ln/>
        </p:spPr>
        <p:txBody>
          <a:bodyPr wrap="square" lIns="0" tIns="0" rIns="0" bIns="0" rtlCol="0" anchor="ctr"/>
          <a:lstStyle/>
          <a:p>
            <a:pPr indent="0" marL="0">
              <a:buNone/>
            </a:pPr>
            <a:r>
              <a:rPr lang="en-US" sz="1100" b="1" dirty="0">
                <a:solidFill>
                  <a:srgbClr val="77B7FF"/>
                </a:solidFill>
                <a:latin typeface="Aptos" pitchFamily="34" charset="0"/>
                <a:ea typeface="Aptos" pitchFamily="34" charset="-122"/>
                <a:cs typeface="Aptos" pitchFamily="34" charset="-120"/>
              </a:rPr>
              <a:t>WATCH PAGE</a:t>
            </a:r>
            <a:endParaRPr lang="en-US" sz="1100" dirty="0"/>
          </a:p>
        </p:txBody>
      </p:sp>
      <p:sp>
        <p:nvSpPr>
          <p:cNvPr id="19" name="Text 17"/>
          <p:cNvSpPr/>
          <p:nvPr/>
        </p:nvSpPr>
        <p:spPr>
          <a:xfrm>
            <a:off x="8311896" y="3611880"/>
            <a:ext cx="2971800" cy="320040"/>
          </a:xfrm>
          <a:prstGeom prst="rect">
            <a:avLst/>
          </a:prstGeom>
          <a:noFill/>
          <a:ln/>
        </p:spPr>
        <p:txBody>
          <a:bodyPr wrap="square" lIns="0" tIns="0" rIns="0" bIns="0" rtlCol="0" anchor="ctr"/>
          <a:lstStyle/>
          <a:p>
            <a:pPr indent="0" marL="0">
              <a:buNone/>
            </a:pPr>
            <a:r>
              <a:rPr lang="en-US" sz="2400" b="1" dirty="0">
                <a:solidFill>
                  <a:srgbClr val="F3F6FA"/>
                </a:solidFill>
                <a:latin typeface="Aptos" pitchFamily="34" charset="0"/>
                <a:ea typeface="Aptos" pitchFamily="34" charset="-122"/>
                <a:cs typeface="Aptos" pitchFamily="34" charset="-120"/>
              </a:rPr>
              <a:t>HLS / browser</a:t>
            </a:r>
            <a:endParaRPr lang="en-US" sz="2400" dirty="0"/>
          </a:p>
        </p:txBody>
      </p:sp>
      <p:sp>
        <p:nvSpPr>
          <p:cNvPr id="20" name="Shape 18"/>
          <p:cNvSpPr/>
          <p:nvPr/>
        </p:nvSpPr>
        <p:spPr>
          <a:xfrm>
            <a:off x="4361688" y="4535424"/>
            <a:ext cx="3429000" cy="1097280"/>
          </a:xfrm>
          <a:prstGeom prst="rect">
            <a:avLst>
              <a:gd name="adj" fmla="val 10000"/>
            </a:avLst>
          </a:prstGeom>
          <a:solidFill>
            <a:srgbClr val="152130"/>
          </a:solidFill>
          <a:ln w="12700">
            <a:solidFill>
              <a:srgbClr val="152130"/>
            </a:solidFill>
            <a:prstDash val="solid"/>
          </a:ln>
        </p:spPr>
      </p:sp>
      <p:sp>
        <p:nvSpPr>
          <p:cNvPr id="21" name="Text 19"/>
          <p:cNvSpPr/>
          <p:nvPr/>
        </p:nvSpPr>
        <p:spPr>
          <a:xfrm>
            <a:off x="4544568" y="4709160"/>
            <a:ext cx="2971800" cy="228600"/>
          </a:xfrm>
          <a:prstGeom prst="rect">
            <a:avLst/>
          </a:prstGeom>
          <a:noFill/>
          <a:ln/>
        </p:spPr>
        <p:txBody>
          <a:bodyPr wrap="square" lIns="0" tIns="0" rIns="0" bIns="0" rtlCol="0" anchor="ctr"/>
          <a:lstStyle/>
          <a:p>
            <a:pPr indent="0" marL="0">
              <a:buNone/>
            </a:pPr>
            <a:r>
              <a:rPr lang="en-US" sz="1100" b="1" dirty="0">
                <a:solidFill>
                  <a:srgbClr val="77B7FF"/>
                </a:solidFill>
                <a:latin typeface="Aptos" pitchFamily="34" charset="0"/>
                <a:ea typeface="Aptos" pitchFamily="34" charset="-122"/>
                <a:cs typeface="Aptos" pitchFamily="34" charset="-120"/>
              </a:rPr>
              <a:t>RECORDINGS</a:t>
            </a:r>
            <a:endParaRPr lang="en-US" sz="1100" dirty="0"/>
          </a:p>
        </p:txBody>
      </p:sp>
      <p:sp>
        <p:nvSpPr>
          <p:cNvPr id="22" name="Text 20"/>
          <p:cNvSpPr/>
          <p:nvPr/>
        </p:nvSpPr>
        <p:spPr>
          <a:xfrm>
            <a:off x="4544568" y="5093208"/>
            <a:ext cx="2971800" cy="320040"/>
          </a:xfrm>
          <a:prstGeom prst="rect">
            <a:avLst/>
          </a:prstGeom>
          <a:noFill/>
          <a:ln/>
        </p:spPr>
        <p:txBody>
          <a:bodyPr wrap="square" lIns="0" tIns="0" rIns="0" bIns="0" rtlCol="0" anchor="ctr"/>
          <a:lstStyle/>
          <a:p>
            <a:pPr indent="0" marL="0">
              <a:buNone/>
            </a:pPr>
            <a:r>
              <a:rPr lang="en-US" sz="2200" b="1" dirty="0">
                <a:solidFill>
                  <a:srgbClr val="F3F6FA"/>
                </a:solidFill>
                <a:latin typeface="Aptos" pitchFamily="34" charset="0"/>
                <a:ea typeface="Aptos" pitchFamily="34" charset="-122"/>
                <a:cs typeface="Aptos" pitchFamily="34" charset="-120"/>
              </a:rPr>
              <a:t>Private MinIO library</a:t>
            </a:r>
            <a:endParaRPr lang="en-US" sz="2200" dirty="0"/>
          </a:p>
        </p:txBody>
      </p:sp>
      <p:sp>
        <p:nvSpPr>
          <p:cNvPr id="23" name="Text 21"/>
          <p:cNvSpPr/>
          <p:nvPr/>
        </p:nvSpPr>
        <p:spPr>
          <a:xfrm>
            <a:off x="640080" y="5925312"/>
            <a:ext cx="10881360" cy="274320"/>
          </a:xfrm>
          <a:prstGeom prst="rect">
            <a:avLst/>
          </a:prstGeom>
          <a:noFill/>
          <a:ln/>
        </p:spPr>
        <p:txBody>
          <a:bodyPr wrap="square" lIns="0" tIns="0" rIns="0" bIns="0" rtlCol="0" anchor="ctr"/>
          <a:lstStyle/>
          <a:p>
            <a:pPr indent="0" marL="0">
              <a:buNone/>
            </a:pPr>
            <a:r>
              <a:rPr lang="en-US" sz="1500" dirty="0">
                <a:solidFill>
                  <a:srgbClr val="ACBACB"/>
                </a:solidFill>
                <a:latin typeface="Aptos" pitchFamily="34" charset="0"/>
                <a:ea typeface="Aptos" pitchFamily="34" charset="-122"/>
                <a:cs typeface="Aptos" pitchFamily="34" charset="-120"/>
              </a:rPr>
              <a:t>Accounts, ownership, favorites, and metadata: MatchWatch API + PostgreSQL</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BUSINESS MODEL TO VALIDATE</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Free discovery. Potential paid tools and access.</a:t>
            </a:r>
            <a:endParaRPr lang="en-US" sz="3500" dirty="0"/>
          </a:p>
        </p:txBody>
      </p:sp>
      <p:sp>
        <p:nvSpPr>
          <p:cNvPr id="5" name="Text 3"/>
          <p:cNvSpPr/>
          <p:nvPr/>
        </p:nvSpPr>
        <p:spPr>
          <a:xfrm>
            <a:off x="621792" y="2304288"/>
            <a:ext cx="10881360" cy="54864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Current stage: product development and pilot preparation. No established revenue or final prices.</a:t>
            </a:r>
            <a:endParaRPr lang="en-US" sz="1600" dirty="0"/>
          </a:p>
        </p:txBody>
      </p:sp>
      <p:sp>
        <p:nvSpPr>
          <p:cNvPr id="6" name="Shape 4"/>
          <p:cNvSpPr/>
          <p:nvPr/>
        </p:nvSpPr>
        <p:spPr>
          <a:xfrm>
            <a:off x="594360" y="6373368"/>
            <a:ext cx="10972800" cy="0"/>
          </a:xfrm>
          <a:prstGeom prst="line">
            <a:avLst/>
          </a:prstGeom>
          <a:noFill/>
          <a:ln w="8890">
            <a:solidFill>
              <a:srgbClr val="304256"/>
            </a:solidFill>
            <a:prstDash val="solid"/>
          </a:ln>
        </p:spPr>
      </p:sp>
      <p:sp>
        <p:nvSpPr>
          <p:cNvPr id="7" name="Text 5"/>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8" name="Text 6"/>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08</a:t>
            </a:r>
            <a:endParaRPr lang="en-US" sz="1000" dirty="0"/>
          </a:p>
        </p:txBody>
      </p:sp>
      <p:sp>
        <p:nvSpPr>
          <p:cNvPr id="9" name="Shape 7"/>
          <p:cNvSpPr/>
          <p:nvPr/>
        </p:nvSpPr>
        <p:spPr>
          <a:xfrm>
            <a:off x="594360" y="3072384"/>
            <a:ext cx="3520440" cy="2679192"/>
          </a:xfrm>
          <a:prstGeom prst="rect">
            <a:avLst>
              <a:gd name="adj" fmla="val 4096"/>
            </a:avLst>
          </a:prstGeom>
          <a:solidFill>
            <a:srgbClr val="152130"/>
          </a:solidFill>
          <a:ln w="12700">
            <a:solidFill>
              <a:srgbClr val="152130"/>
            </a:solidFill>
            <a:prstDash val="solid"/>
          </a:ln>
        </p:spPr>
      </p:sp>
      <p:sp>
        <p:nvSpPr>
          <p:cNvPr id="10" name="Shape 8"/>
          <p:cNvSpPr/>
          <p:nvPr/>
        </p:nvSpPr>
        <p:spPr>
          <a:xfrm>
            <a:off x="594360" y="3072384"/>
            <a:ext cx="41148" cy="2679192"/>
          </a:xfrm>
          <a:prstGeom prst="rect">
            <a:avLst>
              <a:gd name="adj" fmla="val 266667"/>
            </a:avLst>
          </a:prstGeom>
          <a:solidFill>
            <a:srgbClr val="D9FF65"/>
          </a:solidFill>
          <a:ln w="12700">
            <a:solidFill>
              <a:srgbClr val="D9FF65"/>
            </a:solidFill>
            <a:prstDash val="solid"/>
          </a:ln>
        </p:spPr>
      </p:sp>
      <p:sp>
        <p:nvSpPr>
          <p:cNvPr id="11" name="Text 9"/>
          <p:cNvSpPr/>
          <p:nvPr/>
        </p:nvSpPr>
        <p:spPr>
          <a:xfrm>
            <a:off x="804672" y="3282696"/>
            <a:ext cx="3099816"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VENUE SERVICES</a:t>
            </a:r>
            <a:endParaRPr lang="en-US" sz="1000" dirty="0"/>
          </a:p>
        </p:txBody>
      </p:sp>
      <p:sp>
        <p:nvSpPr>
          <p:cNvPr id="12" name="Text 10"/>
          <p:cNvSpPr/>
          <p:nvPr/>
        </p:nvSpPr>
        <p:spPr>
          <a:xfrm>
            <a:off x="804672" y="3776472"/>
            <a:ext cx="3099816"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Reach sports audiences.</a:t>
            </a:r>
            <a:endParaRPr lang="en-US" sz="2300" dirty="0"/>
          </a:p>
        </p:txBody>
      </p:sp>
      <p:sp>
        <p:nvSpPr>
          <p:cNvPr id="13" name="Text 11"/>
          <p:cNvSpPr/>
          <p:nvPr/>
        </p:nvSpPr>
        <p:spPr>
          <a:xfrm>
            <a:off x="804672" y="4672584"/>
            <a:ext cx="3099816" cy="941832"/>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Proposed venue tools, event promotion, clearly labeled placement, and engagement reporting.</a:t>
            </a:r>
            <a:endParaRPr lang="en-US" sz="1600" dirty="0"/>
          </a:p>
        </p:txBody>
      </p:sp>
      <p:sp>
        <p:nvSpPr>
          <p:cNvPr id="14" name="Shape 12"/>
          <p:cNvSpPr/>
          <p:nvPr/>
        </p:nvSpPr>
        <p:spPr>
          <a:xfrm>
            <a:off x="4334256" y="3072384"/>
            <a:ext cx="3520440" cy="2679192"/>
          </a:xfrm>
          <a:prstGeom prst="rect">
            <a:avLst>
              <a:gd name="adj" fmla="val 4096"/>
            </a:avLst>
          </a:prstGeom>
          <a:solidFill>
            <a:srgbClr val="152130"/>
          </a:solidFill>
          <a:ln w="12700">
            <a:solidFill>
              <a:srgbClr val="152130"/>
            </a:solidFill>
            <a:prstDash val="solid"/>
          </a:ln>
        </p:spPr>
      </p:sp>
      <p:sp>
        <p:nvSpPr>
          <p:cNvPr id="15" name="Shape 13"/>
          <p:cNvSpPr/>
          <p:nvPr/>
        </p:nvSpPr>
        <p:spPr>
          <a:xfrm>
            <a:off x="4334256" y="3072384"/>
            <a:ext cx="41148" cy="2679192"/>
          </a:xfrm>
          <a:prstGeom prst="rect">
            <a:avLst>
              <a:gd name="adj" fmla="val 266667"/>
            </a:avLst>
          </a:prstGeom>
          <a:solidFill>
            <a:srgbClr val="D9FF65"/>
          </a:solidFill>
          <a:ln w="12700">
            <a:solidFill>
              <a:srgbClr val="D9FF65"/>
            </a:solidFill>
            <a:prstDash val="solid"/>
          </a:ln>
        </p:spPr>
      </p:sp>
      <p:sp>
        <p:nvSpPr>
          <p:cNvPr id="16" name="Text 14"/>
          <p:cNvSpPr/>
          <p:nvPr/>
        </p:nvSpPr>
        <p:spPr>
          <a:xfrm>
            <a:off x="4544568" y="3282696"/>
            <a:ext cx="3099816"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CREATOR SERVICES</a:t>
            </a:r>
            <a:endParaRPr lang="en-US" sz="1000" dirty="0"/>
          </a:p>
        </p:txBody>
      </p:sp>
      <p:sp>
        <p:nvSpPr>
          <p:cNvPr id="17" name="Text 15"/>
          <p:cNvSpPr/>
          <p:nvPr/>
        </p:nvSpPr>
        <p:spPr>
          <a:xfrm>
            <a:off x="4544568" y="3776472"/>
            <a:ext cx="3099816"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Keep and organize content.</a:t>
            </a:r>
            <a:endParaRPr lang="en-US" sz="2300" dirty="0"/>
          </a:p>
        </p:txBody>
      </p:sp>
      <p:sp>
        <p:nvSpPr>
          <p:cNvPr id="18" name="Text 16"/>
          <p:cNvSpPr/>
          <p:nvPr/>
        </p:nvSpPr>
        <p:spPr>
          <a:xfrm>
            <a:off x="4544568" y="4672584"/>
            <a:ext cx="3099816" cy="941832"/>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Proposed storage, retention, organizational tools, and future AI production features.</a:t>
            </a:r>
            <a:endParaRPr lang="en-US" sz="1600" dirty="0"/>
          </a:p>
        </p:txBody>
      </p:sp>
      <p:sp>
        <p:nvSpPr>
          <p:cNvPr id="19" name="Shape 17"/>
          <p:cNvSpPr/>
          <p:nvPr/>
        </p:nvSpPr>
        <p:spPr>
          <a:xfrm>
            <a:off x="8074152" y="3072384"/>
            <a:ext cx="3520440" cy="2679192"/>
          </a:xfrm>
          <a:prstGeom prst="rect">
            <a:avLst>
              <a:gd name="adj" fmla="val 4096"/>
            </a:avLst>
          </a:prstGeom>
          <a:solidFill>
            <a:srgbClr val="152130"/>
          </a:solidFill>
          <a:ln w="12700">
            <a:solidFill>
              <a:srgbClr val="152130"/>
            </a:solidFill>
            <a:prstDash val="solid"/>
          </a:ln>
        </p:spPr>
      </p:sp>
      <p:sp>
        <p:nvSpPr>
          <p:cNvPr id="20" name="Shape 18"/>
          <p:cNvSpPr/>
          <p:nvPr/>
        </p:nvSpPr>
        <p:spPr>
          <a:xfrm>
            <a:off x="8074152" y="3072384"/>
            <a:ext cx="41148" cy="2679192"/>
          </a:xfrm>
          <a:prstGeom prst="rect">
            <a:avLst>
              <a:gd name="adj" fmla="val 266667"/>
            </a:avLst>
          </a:prstGeom>
          <a:solidFill>
            <a:srgbClr val="D9FF65"/>
          </a:solidFill>
          <a:ln w="12700">
            <a:solidFill>
              <a:srgbClr val="D9FF65"/>
            </a:solidFill>
            <a:prstDash val="solid"/>
          </a:ln>
        </p:spPr>
      </p:sp>
      <p:sp>
        <p:nvSpPr>
          <p:cNvPr id="21" name="Text 19"/>
          <p:cNvSpPr/>
          <p:nvPr/>
        </p:nvSpPr>
        <p:spPr>
          <a:xfrm>
            <a:off x="8284464" y="3282696"/>
            <a:ext cx="3099816"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FUTURE VIEWER ACCESS</a:t>
            </a:r>
            <a:endParaRPr lang="en-US" sz="1000" dirty="0"/>
          </a:p>
        </p:txBody>
      </p:sp>
      <p:sp>
        <p:nvSpPr>
          <p:cNvPr id="22" name="Text 20"/>
          <p:cNvSpPr/>
          <p:nvPr/>
        </p:nvSpPr>
        <p:spPr>
          <a:xfrm>
            <a:off x="8284464" y="3776472"/>
            <a:ext cx="3099816"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Support a creator.</a:t>
            </a:r>
            <a:endParaRPr lang="en-US" sz="2300" dirty="0"/>
          </a:p>
        </p:txBody>
      </p:sp>
      <p:sp>
        <p:nvSpPr>
          <p:cNvPr id="23" name="Text 21"/>
          <p:cNvSpPr/>
          <p:nvPr/>
        </p:nvSpPr>
        <p:spPr>
          <a:xfrm>
            <a:off x="8284464" y="4672584"/>
            <a:ext cx="3099816" cy="941832"/>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Potential per-match or monthly channel access after billing, permissions, and payouts are built.</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AI / HACKATHON OPPORTUNITY</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Turn a full game into moments fans can find.</a:t>
            </a:r>
            <a:endParaRPr lang="en-US" sz="3500" dirty="0"/>
          </a:p>
        </p:txBody>
      </p:sp>
      <p:sp>
        <p:nvSpPr>
          <p:cNvPr id="5" name="Text 3"/>
          <p:cNvSpPr/>
          <p:nvPr/>
        </p:nvSpPr>
        <p:spPr>
          <a:xfrm>
            <a:off x="621792" y="2304288"/>
            <a:ext cx="10881360" cy="54864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Proposed MatchWatch AI Recap workflow — not yet implemented.</a:t>
            </a:r>
            <a:endParaRPr lang="en-US" sz="1600" dirty="0"/>
          </a:p>
        </p:txBody>
      </p:sp>
      <p:sp>
        <p:nvSpPr>
          <p:cNvPr id="6" name="Shape 4"/>
          <p:cNvSpPr/>
          <p:nvPr/>
        </p:nvSpPr>
        <p:spPr>
          <a:xfrm>
            <a:off x="594360" y="6373368"/>
            <a:ext cx="10972800" cy="0"/>
          </a:xfrm>
          <a:prstGeom prst="line">
            <a:avLst/>
          </a:prstGeom>
          <a:noFill/>
          <a:ln w="8890">
            <a:solidFill>
              <a:srgbClr val="304256"/>
            </a:solidFill>
            <a:prstDash val="solid"/>
          </a:ln>
        </p:spPr>
      </p:sp>
      <p:sp>
        <p:nvSpPr>
          <p:cNvPr id="7" name="Text 5"/>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8" name="Text 6"/>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09</a:t>
            </a:r>
            <a:endParaRPr lang="en-US" sz="1000" dirty="0"/>
          </a:p>
        </p:txBody>
      </p:sp>
      <p:sp>
        <p:nvSpPr>
          <p:cNvPr id="9" name="Shape 7"/>
          <p:cNvSpPr/>
          <p:nvPr/>
        </p:nvSpPr>
        <p:spPr>
          <a:xfrm>
            <a:off x="594360" y="3044952"/>
            <a:ext cx="2578608" cy="877824"/>
          </a:xfrm>
          <a:prstGeom prst="rect">
            <a:avLst>
              <a:gd name="adj" fmla="val 12500"/>
            </a:avLst>
          </a:prstGeom>
          <a:solidFill>
            <a:srgbClr val="152130"/>
          </a:solidFill>
          <a:ln w="12700">
            <a:solidFill>
              <a:srgbClr val="152130"/>
            </a:solidFill>
            <a:prstDash val="solid"/>
          </a:ln>
        </p:spPr>
      </p:sp>
      <p:sp>
        <p:nvSpPr>
          <p:cNvPr id="10" name="Text 8"/>
          <p:cNvSpPr/>
          <p:nvPr/>
        </p:nvSpPr>
        <p:spPr>
          <a:xfrm>
            <a:off x="740664" y="3337560"/>
            <a:ext cx="2286000" cy="274320"/>
          </a:xfrm>
          <a:prstGeom prst="rect">
            <a:avLst/>
          </a:prstGeom>
          <a:noFill/>
          <a:ln/>
        </p:spPr>
        <p:txBody>
          <a:bodyPr wrap="square" lIns="0" tIns="0" rIns="0" bIns="0" rtlCol="0" anchor="ctr"/>
          <a:lstStyle/>
          <a:p>
            <a:pPr indent="0" marL="0">
              <a:buNone/>
            </a:pPr>
            <a:r>
              <a:rPr lang="en-US" sz="1600" b="1" dirty="0">
                <a:solidFill>
                  <a:srgbClr val="F3F6FA"/>
                </a:solidFill>
                <a:latin typeface="Aptos" pitchFamily="34" charset="0"/>
                <a:ea typeface="Aptos" pitchFamily="34" charset="-122"/>
                <a:cs typeface="Aptos" pitchFamily="34" charset="-120"/>
              </a:rPr>
              <a:t>RECORDING</a:t>
            </a:r>
            <a:endParaRPr lang="en-US" sz="1600" dirty="0"/>
          </a:p>
        </p:txBody>
      </p:sp>
      <p:sp>
        <p:nvSpPr>
          <p:cNvPr id="11" name="Shape 9"/>
          <p:cNvSpPr/>
          <p:nvPr/>
        </p:nvSpPr>
        <p:spPr>
          <a:xfrm>
            <a:off x="3401568" y="3044952"/>
            <a:ext cx="2578608" cy="877824"/>
          </a:xfrm>
          <a:prstGeom prst="rect">
            <a:avLst>
              <a:gd name="adj" fmla="val 12500"/>
            </a:avLst>
          </a:prstGeom>
          <a:solidFill>
            <a:srgbClr val="152130"/>
          </a:solidFill>
          <a:ln w="12700">
            <a:solidFill>
              <a:srgbClr val="152130"/>
            </a:solidFill>
            <a:prstDash val="solid"/>
          </a:ln>
        </p:spPr>
      </p:sp>
      <p:sp>
        <p:nvSpPr>
          <p:cNvPr id="12" name="Text 10"/>
          <p:cNvSpPr/>
          <p:nvPr/>
        </p:nvSpPr>
        <p:spPr>
          <a:xfrm>
            <a:off x="3547872" y="3337560"/>
            <a:ext cx="2286000" cy="274320"/>
          </a:xfrm>
          <a:prstGeom prst="rect">
            <a:avLst/>
          </a:prstGeom>
          <a:noFill/>
          <a:ln/>
        </p:spPr>
        <p:txBody>
          <a:bodyPr wrap="square" lIns="0" tIns="0" rIns="0" bIns="0" rtlCol="0" anchor="ctr"/>
          <a:lstStyle/>
          <a:p>
            <a:pPr indent="0" marL="0">
              <a:buNone/>
            </a:pPr>
            <a:r>
              <a:rPr lang="en-US" sz="1600" b="1" dirty="0">
                <a:solidFill>
                  <a:srgbClr val="F3F6FA"/>
                </a:solidFill>
                <a:latin typeface="Aptos" pitchFamily="34" charset="0"/>
                <a:ea typeface="Aptos" pitchFamily="34" charset="-122"/>
                <a:cs typeface="Aptos" pitchFamily="34" charset="-120"/>
              </a:rPr>
              <a:t>FIND MOMENTS</a:t>
            </a:r>
            <a:endParaRPr lang="en-US" sz="1600" dirty="0"/>
          </a:p>
        </p:txBody>
      </p:sp>
      <p:sp>
        <p:nvSpPr>
          <p:cNvPr id="13" name="Shape 11"/>
          <p:cNvSpPr/>
          <p:nvPr/>
        </p:nvSpPr>
        <p:spPr>
          <a:xfrm>
            <a:off x="6208776" y="3044952"/>
            <a:ext cx="2578608" cy="877824"/>
          </a:xfrm>
          <a:prstGeom prst="rect">
            <a:avLst>
              <a:gd name="adj" fmla="val 12500"/>
            </a:avLst>
          </a:prstGeom>
          <a:solidFill>
            <a:srgbClr val="152130"/>
          </a:solidFill>
          <a:ln w="12700">
            <a:solidFill>
              <a:srgbClr val="152130"/>
            </a:solidFill>
            <a:prstDash val="solid"/>
          </a:ln>
        </p:spPr>
      </p:sp>
      <p:sp>
        <p:nvSpPr>
          <p:cNvPr id="14" name="Text 12"/>
          <p:cNvSpPr/>
          <p:nvPr/>
        </p:nvSpPr>
        <p:spPr>
          <a:xfrm>
            <a:off x="6355080" y="3337560"/>
            <a:ext cx="2286000" cy="274320"/>
          </a:xfrm>
          <a:prstGeom prst="rect">
            <a:avLst/>
          </a:prstGeom>
          <a:noFill/>
          <a:ln/>
        </p:spPr>
        <p:txBody>
          <a:bodyPr wrap="square" lIns="0" tIns="0" rIns="0" bIns="0" rtlCol="0" anchor="ctr"/>
          <a:lstStyle/>
          <a:p>
            <a:pPr indent="0" marL="0">
              <a:buNone/>
            </a:pPr>
            <a:r>
              <a:rPr lang="en-US" sz="1600" b="1" dirty="0">
                <a:solidFill>
                  <a:srgbClr val="D9FF65"/>
                </a:solidFill>
                <a:latin typeface="Aptos" pitchFamily="34" charset="0"/>
                <a:ea typeface="Aptos" pitchFamily="34" charset="-122"/>
                <a:cs typeface="Aptos" pitchFamily="34" charset="-120"/>
              </a:rPr>
              <a:t>CREATOR REVIEW</a:t>
            </a:r>
            <a:endParaRPr lang="en-US" sz="1600" dirty="0"/>
          </a:p>
        </p:txBody>
      </p:sp>
      <p:sp>
        <p:nvSpPr>
          <p:cNvPr id="15" name="Shape 13"/>
          <p:cNvSpPr/>
          <p:nvPr/>
        </p:nvSpPr>
        <p:spPr>
          <a:xfrm>
            <a:off x="9015984" y="3044952"/>
            <a:ext cx="2578608" cy="877824"/>
          </a:xfrm>
          <a:prstGeom prst="rect">
            <a:avLst>
              <a:gd name="adj" fmla="val 12500"/>
            </a:avLst>
          </a:prstGeom>
          <a:solidFill>
            <a:srgbClr val="152130"/>
          </a:solidFill>
          <a:ln w="12700">
            <a:solidFill>
              <a:srgbClr val="152130"/>
            </a:solidFill>
            <a:prstDash val="solid"/>
          </a:ln>
        </p:spPr>
      </p:sp>
      <p:sp>
        <p:nvSpPr>
          <p:cNvPr id="16" name="Text 14"/>
          <p:cNvSpPr/>
          <p:nvPr/>
        </p:nvSpPr>
        <p:spPr>
          <a:xfrm>
            <a:off x="9162288" y="3337560"/>
            <a:ext cx="2286000" cy="274320"/>
          </a:xfrm>
          <a:prstGeom prst="rect">
            <a:avLst/>
          </a:prstGeom>
          <a:noFill/>
          <a:ln/>
        </p:spPr>
        <p:txBody>
          <a:bodyPr wrap="square" lIns="0" tIns="0" rIns="0" bIns="0" rtlCol="0" anchor="ctr"/>
          <a:lstStyle/>
          <a:p>
            <a:pPr indent="0" marL="0">
              <a:buNone/>
            </a:pPr>
            <a:r>
              <a:rPr lang="en-US" sz="1600" b="1" dirty="0">
                <a:solidFill>
                  <a:srgbClr val="F3F6FA"/>
                </a:solidFill>
                <a:latin typeface="Aptos" pitchFamily="34" charset="0"/>
                <a:ea typeface="Aptos" pitchFamily="34" charset="-122"/>
                <a:cs typeface="Aptos" pitchFamily="34" charset="-120"/>
              </a:rPr>
              <a:t>SHORT RECAP</a:t>
            </a:r>
            <a:endParaRPr lang="en-US" sz="1600" dirty="0"/>
          </a:p>
        </p:txBody>
      </p:sp>
      <p:sp>
        <p:nvSpPr>
          <p:cNvPr id="17" name="Text 15"/>
          <p:cNvSpPr/>
          <p:nvPr/>
        </p:nvSpPr>
        <p:spPr>
          <a:xfrm>
            <a:off x="640080" y="4325112"/>
            <a:ext cx="10972800" cy="502920"/>
          </a:xfrm>
          <a:prstGeom prst="rect">
            <a:avLst/>
          </a:prstGeom>
          <a:noFill/>
          <a:ln/>
        </p:spPr>
        <p:txBody>
          <a:bodyPr wrap="square" lIns="0" tIns="0" rIns="0" bIns="0" rtlCol="0" anchor="ctr"/>
          <a:lstStyle/>
          <a:p>
            <a:pPr indent="0" marL="0">
              <a:buNone/>
            </a:pPr>
            <a:r>
              <a:rPr lang="en-US" sz="2400" b="1" dirty="0">
                <a:solidFill>
                  <a:srgbClr val="D9FF65"/>
                </a:solidFill>
                <a:latin typeface="Aptos" pitchFamily="34" charset="0"/>
                <a:ea typeface="Aptos" pitchFamily="34" charset="-122"/>
                <a:cs typeface="Aptos" pitchFamily="34" charset="-120"/>
              </a:rPr>
              <a:t>“Find the best saves.”   “Show the fourth-quarter dunks.”</a:t>
            </a:r>
            <a:endParaRPr lang="en-US" sz="2400" dirty="0"/>
          </a:p>
        </p:txBody>
      </p:sp>
      <p:sp>
        <p:nvSpPr>
          <p:cNvPr id="18" name="Text 16"/>
          <p:cNvSpPr/>
          <p:nvPr/>
        </p:nvSpPr>
        <p:spPr>
          <a:xfrm>
            <a:off x="640080" y="5129784"/>
            <a:ext cx="10881360" cy="548640"/>
          </a:xfrm>
          <a:prstGeom prst="rect">
            <a:avLst/>
          </a:prstGeom>
          <a:noFill/>
          <a:ln/>
        </p:spPr>
        <p:txBody>
          <a:bodyPr wrap="square" lIns="0" tIns="0" rIns="0" bIns="0" rtlCol="0" anchor="ctr"/>
          <a:lstStyle/>
          <a:p>
            <a:pPr indent="0" marL="0">
              <a:buNone/>
            </a:pPr>
            <a:r>
              <a:rPr lang="en-US" sz="1800" dirty="0">
                <a:solidFill>
                  <a:srgbClr val="ACBACB"/>
                </a:solidFill>
                <a:latin typeface="Aptos" pitchFamily="34" charset="0"/>
                <a:ea typeface="Aptos" pitchFamily="34" charset="-122"/>
                <a:cs typeface="Aptos" pitchFamily="34" charset="-120"/>
              </a:rPr>
              <a:t>Founder: platform + streaming    |    Teammates: video AI + recap assembly</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ROADMAP</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Prove the workflow. Then expand the experience.</a:t>
            </a:r>
            <a:endParaRPr lang="en-US" sz="3500" dirty="0"/>
          </a:p>
        </p:txBody>
      </p:sp>
      <p:sp>
        <p:nvSpPr>
          <p:cNvPr id="5" name="Shape 3"/>
          <p:cNvSpPr/>
          <p:nvPr/>
        </p:nvSpPr>
        <p:spPr>
          <a:xfrm>
            <a:off x="594360" y="6373368"/>
            <a:ext cx="10972800" cy="0"/>
          </a:xfrm>
          <a:prstGeom prst="line">
            <a:avLst/>
          </a:prstGeom>
          <a:noFill/>
          <a:ln w="8890">
            <a:solidFill>
              <a:srgbClr val="304256"/>
            </a:solidFill>
            <a:prstDash val="solid"/>
          </a:ln>
        </p:spPr>
      </p:sp>
      <p:sp>
        <p:nvSpPr>
          <p:cNvPr id="6" name="Text 4"/>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7" name="Text 5"/>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10</a:t>
            </a:r>
            <a:endParaRPr lang="en-US" sz="1000" dirty="0"/>
          </a:p>
        </p:txBody>
      </p:sp>
      <p:sp>
        <p:nvSpPr>
          <p:cNvPr id="8" name="Shape 6"/>
          <p:cNvSpPr/>
          <p:nvPr/>
        </p:nvSpPr>
        <p:spPr>
          <a:xfrm>
            <a:off x="594360" y="2834640"/>
            <a:ext cx="3520440" cy="2834640"/>
          </a:xfrm>
          <a:prstGeom prst="rect">
            <a:avLst>
              <a:gd name="adj" fmla="val 3871"/>
            </a:avLst>
          </a:prstGeom>
          <a:solidFill>
            <a:srgbClr val="152130"/>
          </a:solidFill>
          <a:ln w="12700">
            <a:solidFill>
              <a:srgbClr val="152130"/>
            </a:solidFill>
            <a:prstDash val="solid"/>
          </a:ln>
        </p:spPr>
      </p:sp>
      <p:sp>
        <p:nvSpPr>
          <p:cNvPr id="9" name="Shape 7"/>
          <p:cNvSpPr/>
          <p:nvPr/>
        </p:nvSpPr>
        <p:spPr>
          <a:xfrm>
            <a:off x="594360" y="2834640"/>
            <a:ext cx="41148" cy="2834640"/>
          </a:xfrm>
          <a:prstGeom prst="rect">
            <a:avLst>
              <a:gd name="adj" fmla="val 266667"/>
            </a:avLst>
          </a:prstGeom>
          <a:solidFill>
            <a:srgbClr val="D9FF65"/>
          </a:solidFill>
          <a:ln w="12700">
            <a:solidFill>
              <a:srgbClr val="D9FF65"/>
            </a:solidFill>
            <a:prstDash val="solid"/>
          </a:ln>
        </p:spPr>
      </p:sp>
      <p:sp>
        <p:nvSpPr>
          <p:cNvPr id="10" name="Text 8"/>
          <p:cNvSpPr/>
          <p:nvPr/>
        </p:nvSpPr>
        <p:spPr>
          <a:xfrm>
            <a:off x="804672" y="3044952"/>
            <a:ext cx="3099816"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NOW</a:t>
            </a:r>
            <a:endParaRPr lang="en-US" sz="1000" dirty="0"/>
          </a:p>
        </p:txBody>
      </p:sp>
      <p:sp>
        <p:nvSpPr>
          <p:cNvPr id="11" name="Text 9"/>
          <p:cNvSpPr/>
          <p:nvPr/>
        </p:nvSpPr>
        <p:spPr>
          <a:xfrm>
            <a:off x="804672" y="3538728"/>
            <a:ext cx="3099816"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Finish the live pilot.</a:t>
            </a:r>
            <a:endParaRPr lang="en-US" sz="2300" dirty="0"/>
          </a:p>
        </p:txBody>
      </p:sp>
      <p:sp>
        <p:nvSpPr>
          <p:cNvPr id="12" name="Text 10"/>
          <p:cNvSpPr/>
          <p:nvPr/>
        </p:nvSpPr>
        <p:spPr>
          <a:xfrm>
            <a:off x="804672" y="4434840"/>
            <a:ext cx="3099816" cy="109728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Production configuration, real GoPro test, two-account checks, and reliable recording saves.</a:t>
            </a:r>
            <a:endParaRPr lang="en-US" sz="1600" dirty="0"/>
          </a:p>
        </p:txBody>
      </p:sp>
      <p:sp>
        <p:nvSpPr>
          <p:cNvPr id="13" name="Shape 11"/>
          <p:cNvSpPr/>
          <p:nvPr/>
        </p:nvSpPr>
        <p:spPr>
          <a:xfrm>
            <a:off x="4334256" y="2834640"/>
            <a:ext cx="3520440" cy="2834640"/>
          </a:xfrm>
          <a:prstGeom prst="rect">
            <a:avLst>
              <a:gd name="adj" fmla="val 3871"/>
            </a:avLst>
          </a:prstGeom>
          <a:solidFill>
            <a:srgbClr val="152130"/>
          </a:solidFill>
          <a:ln w="12700">
            <a:solidFill>
              <a:srgbClr val="152130"/>
            </a:solidFill>
            <a:prstDash val="solid"/>
          </a:ln>
        </p:spPr>
      </p:sp>
      <p:sp>
        <p:nvSpPr>
          <p:cNvPr id="14" name="Shape 12"/>
          <p:cNvSpPr/>
          <p:nvPr/>
        </p:nvSpPr>
        <p:spPr>
          <a:xfrm>
            <a:off x="4334256" y="2834640"/>
            <a:ext cx="41148" cy="2834640"/>
          </a:xfrm>
          <a:prstGeom prst="rect">
            <a:avLst>
              <a:gd name="adj" fmla="val 266667"/>
            </a:avLst>
          </a:prstGeom>
          <a:solidFill>
            <a:srgbClr val="D9FF65"/>
          </a:solidFill>
          <a:ln w="12700">
            <a:solidFill>
              <a:srgbClr val="D9FF65"/>
            </a:solidFill>
            <a:prstDash val="solid"/>
          </a:ln>
        </p:spPr>
      </p:sp>
      <p:sp>
        <p:nvSpPr>
          <p:cNvPr id="15" name="Text 13"/>
          <p:cNvSpPr/>
          <p:nvPr/>
        </p:nvSpPr>
        <p:spPr>
          <a:xfrm>
            <a:off x="4544568" y="3044952"/>
            <a:ext cx="3099816"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NEXT</a:t>
            </a:r>
            <a:endParaRPr lang="en-US" sz="1000" dirty="0"/>
          </a:p>
        </p:txBody>
      </p:sp>
      <p:sp>
        <p:nvSpPr>
          <p:cNvPr id="16" name="Text 14"/>
          <p:cNvSpPr/>
          <p:nvPr/>
        </p:nvSpPr>
        <p:spPr>
          <a:xfrm>
            <a:off x="4544568" y="3538728"/>
            <a:ext cx="3099816"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Learn with communities.</a:t>
            </a:r>
            <a:endParaRPr lang="en-US" sz="2300" dirty="0"/>
          </a:p>
        </p:txBody>
      </p:sp>
      <p:sp>
        <p:nvSpPr>
          <p:cNvPr id="17" name="Text 15"/>
          <p:cNvSpPr/>
          <p:nvPr/>
        </p:nvSpPr>
        <p:spPr>
          <a:xfrm>
            <a:off x="4544568" y="4434840"/>
            <a:ext cx="3099816" cy="109728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Creator and venue pilots; measure repeat use, delivery costs, and willingness to pay.</a:t>
            </a:r>
            <a:endParaRPr lang="en-US" sz="1600" dirty="0"/>
          </a:p>
        </p:txBody>
      </p:sp>
      <p:sp>
        <p:nvSpPr>
          <p:cNvPr id="18" name="Shape 16"/>
          <p:cNvSpPr/>
          <p:nvPr/>
        </p:nvSpPr>
        <p:spPr>
          <a:xfrm>
            <a:off x="8074152" y="2834640"/>
            <a:ext cx="3520440" cy="2834640"/>
          </a:xfrm>
          <a:prstGeom prst="rect">
            <a:avLst>
              <a:gd name="adj" fmla="val 3871"/>
            </a:avLst>
          </a:prstGeom>
          <a:solidFill>
            <a:srgbClr val="152130"/>
          </a:solidFill>
          <a:ln w="12700">
            <a:solidFill>
              <a:srgbClr val="152130"/>
            </a:solidFill>
            <a:prstDash val="solid"/>
          </a:ln>
        </p:spPr>
      </p:sp>
      <p:sp>
        <p:nvSpPr>
          <p:cNvPr id="19" name="Shape 17"/>
          <p:cNvSpPr/>
          <p:nvPr/>
        </p:nvSpPr>
        <p:spPr>
          <a:xfrm>
            <a:off x="8074152" y="2834640"/>
            <a:ext cx="41148" cy="2834640"/>
          </a:xfrm>
          <a:prstGeom prst="rect">
            <a:avLst>
              <a:gd name="adj" fmla="val 266667"/>
            </a:avLst>
          </a:prstGeom>
          <a:solidFill>
            <a:srgbClr val="D9FF65"/>
          </a:solidFill>
          <a:ln w="12700">
            <a:solidFill>
              <a:srgbClr val="D9FF65"/>
            </a:solidFill>
            <a:prstDash val="solid"/>
          </a:ln>
        </p:spPr>
      </p:sp>
      <p:sp>
        <p:nvSpPr>
          <p:cNvPr id="20" name="Text 18"/>
          <p:cNvSpPr/>
          <p:nvPr/>
        </p:nvSpPr>
        <p:spPr>
          <a:xfrm>
            <a:off x="8284464" y="3044952"/>
            <a:ext cx="3099816" cy="274320"/>
          </a:xfrm>
          <a:prstGeom prst="rect">
            <a:avLst/>
          </a:prstGeom>
          <a:noFill/>
          <a:ln/>
        </p:spPr>
        <p:txBody>
          <a:bodyPr wrap="square" lIns="0" tIns="0" rIns="0" bIns="0" rtlCol="0" anchor="ctr"/>
          <a:lstStyle/>
          <a:p>
            <a:pPr indent="0" marL="0">
              <a:buNone/>
            </a:pPr>
            <a:r>
              <a:rPr lang="en-US" sz="1000" b="1" spc="100" kern="0" dirty="0">
                <a:solidFill>
                  <a:srgbClr val="77B7FF"/>
                </a:solidFill>
                <a:latin typeface="Aptos" pitchFamily="34" charset="0"/>
                <a:ea typeface="Aptos" pitchFamily="34" charset="-122"/>
                <a:cs typeface="Aptos" pitchFamily="34" charset="-120"/>
              </a:rPr>
              <a:t>LATER</a:t>
            </a:r>
            <a:endParaRPr lang="en-US" sz="1000" dirty="0"/>
          </a:p>
        </p:txBody>
      </p:sp>
      <p:sp>
        <p:nvSpPr>
          <p:cNvPr id="21" name="Text 19"/>
          <p:cNvSpPr/>
          <p:nvPr/>
        </p:nvSpPr>
        <p:spPr>
          <a:xfrm>
            <a:off x="8284464" y="3538728"/>
            <a:ext cx="3099816" cy="777240"/>
          </a:xfrm>
          <a:prstGeom prst="rect">
            <a:avLst/>
          </a:prstGeom>
          <a:noFill/>
          <a:ln/>
        </p:spPr>
        <p:txBody>
          <a:bodyPr wrap="square" lIns="0" tIns="0" rIns="0" bIns="0" rtlCol="0" anchor="ctr"/>
          <a:lstStyle/>
          <a:p>
            <a:pPr indent="0" marL="0">
              <a:buNone/>
            </a:pPr>
            <a:r>
              <a:rPr lang="en-US" sz="2300" b="1" dirty="0">
                <a:solidFill>
                  <a:srgbClr val="F3F6FA"/>
                </a:solidFill>
                <a:latin typeface="Aptos" pitchFamily="34" charset="0"/>
                <a:ea typeface="Aptos" pitchFamily="34" charset="-122"/>
                <a:cs typeface="Aptos" pitchFamily="34" charset="-120"/>
              </a:rPr>
              <a:t>AI and more cameras.</a:t>
            </a:r>
            <a:endParaRPr lang="en-US" sz="2300" dirty="0"/>
          </a:p>
        </p:txBody>
      </p:sp>
      <p:sp>
        <p:nvSpPr>
          <p:cNvPr id="22" name="Text 20"/>
          <p:cNvSpPr/>
          <p:nvPr/>
        </p:nvSpPr>
        <p:spPr>
          <a:xfrm>
            <a:off x="8284464" y="4434840"/>
            <a:ext cx="3099816" cy="1097280"/>
          </a:xfrm>
          <a:prstGeom prst="rect">
            <a:avLst/>
          </a:prstGeom>
          <a:noFill/>
          <a:ln/>
        </p:spPr>
        <p:txBody>
          <a:bodyPr wrap="square" lIns="0" tIns="0" rIns="0" bIns="0" rtlCol="0" anchor="ctr"/>
          <a:lstStyle/>
          <a:p>
            <a:pPr indent="0" marL="0">
              <a:buNone/>
            </a:pPr>
            <a:r>
              <a:rPr lang="en-US" sz="1600" dirty="0">
                <a:solidFill>
                  <a:srgbClr val="ACBACB"/>
                </a:solidFill>
                <a:latin typeface="Aptos" pitchFamily="34" charset="0"/>
                <a:ea typeface="Aptos" pitchFamily="34" charset="-122"/>
                <a:cs typeface="Aptos" pitchFamily="34" charset="-120"/>
              </a:rPr>
              <a:t>Reviewed AI recaps, phones, and potential Ray-Ban Meta glasses support.</a:t>
            </a:r>
            <a:endParaRPr lang="en-US" sz="1600" dirty="0"/>
          </a:p>
        </p:txBody>
      </p:sp>
      <p:sp>
        <p:nvSpPr>
          <p:cNvPr id="23" name="Text 21"/>
          <p:cNvSpPr/>
          <p:nvPr/>
        </p:nvSpPr>
        <p:spPr>
          <a:xfrm>
            <a:off x="640080" y="5971032"/>
            <a:ext cx="10789920" cy="219456"/>
          </a:xfrm>
          <a:prstGeom prst="rect">
            <a:avLst/>
          </a:prstGeom>
          <a:noFill/>
          <a:ln/>
        </p:spPr>
        <p:txBody>
          <a:bodyPr wrap="square" lIns="0" tIns="0" rIns="0" bIns="0" rtlCol="0" anchor="ctr"/>
          <a:lstStyle/>
          <a:p>
            <a:pPr indent="0" marL="0">
              <a:buNone/>
            </a:pPr>
            <a:r>
              <a:rPr lang="en-US" sz="1200" dirty="0">
                <a:solidFill>
                  <a:srgbClr val="ACBACB"/>
                </a:solidFill>
                <a:latin typeface="Aptos" pitchFamily="34" charset="0"/>
                <a:ea typeface="Aptos" pitchFamily="34" charset="-122"/>
                <a:cs typeface="Aptos" pitchFamily="34" charset="-120"/>
              </a:rPr>
              <a:t>Smart-glasses support is exploratory; direct streaming compatibility is unverified.</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DEVELOPMENT EVIDENCE</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Technical progress, before commercial claims.</a:t>
            </a:r>
            <a:endParaRPr lang="en-US" sz="3500" dirty="0"/>
          </a:p>
        </p:txBody>
      </p:sp>
      <p:sp>
        <p:nvSpPr>
          <p:cNvPr id="5" name="Shape 3"/>
          <p:cNvSpPr/>
          <p:nvPr/>
        </p:nvSpPr>
        <p:spPr>
          <a:xfrm>
            <a:off x="594360" y="6373368"/>
            <a:ext cx="10972800" cy="0"/>
          </a:xfrm>
          <a:prstGeom prst="line">
            <a:avLst/>
          </a:prstGeom>
          <a:noFill/>
          <a:ln w="8890">
            <a:solidFill>
              <a:srgbClr val="304256"/>
            </a:solidFill>
            <a:prstDash val="solid"/>
          </a:ln>
        </p:spPr>
      </p:sp>
      <p:sp>
        <p:nvSpPr>
          <p:cNvPr id="6" name="Text 4"/>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7" name="Text 5"/>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11</a:t>
            </a:r>
            <a:endParaRPr lang="en-US" sz="1000" dirty="0"/>
          </a:p>
        </p:txBody>
      </p:sp>
      <p:sp>
        <p:nvSpPr>
          <p:cNvPr id="8" name="Text 6"/>
          <p:cNvSpPr/>
          <p:nvPr/>
        </p:nvSpPr>
        <p:spPr>
          <a:xfrm>
            <a:off x="749808" y="2871216"/>
            <a:ext cx="2743200" cy="1097280"/>
          </a:xfrm>
          <a:prstGeom prst="rect">
            <a:avLst/>
          </a:prstGeom>
          <a:noFill/>
          <a:ln/>
        </p:spPr>
        <p:txBody>
          <a:bodyPr wrap="square" lIns="0" tIns="0" rIns="0" bIns="0" rtlCol="0" anchor="ctr"/>
          <a:lstStyle/>
          <a:p>
            <a:pPr indent="0" marL="0">
              <a:buNone/>
            </a:pPr>
            <a:r>
              <a:rPr lang="en-US" sz="8400" b="1" dirty="0">
                <a:solidFill>
                  <a:srgbClr val="D9FF65"/>
                </a:solidFill>
                <a:latin typeface="Aptos" pitchFamily="34" charset="0"/>
                <a:ea typeface="Aptos" pitchFamily="34" charset="-122"/>
                <a:cs typeface="Aptos" pitchFamily="34" charset="-120"/>
              </a:rPr>
              <a:t>6</a:t>
            </a:r>
            <a:endParaRPr lang="en-US" sz="8400" dirty="0"/>
          </a:p>
        </p:txBody>
      </p:sp>
      <p:sp>
        <p:nvSpPr>
          <p:cNvPr id="9" name="Text 7"/>
          <p:cNvSpPr/>
          <p:nvPr/>
        </p:nvSpPr>
        <p:spPr>
          <a:xfrm>
            <a:off x="786384" y="4142232"/>
            <a:ext cx="3657600" cy="640080"/>
          </a:xfrm>
          <a:prstGeom prst="rect">
            <a:avLst/>
          </a:prstGeom>
          <a:noFill/>
          <a:ln/>
        </p:spPr>
        <p:txBody>
          <a:bodyPr wrap="square" lIns="0" tIns="0" rIns="0" bIns="0" rtlCol="0" anchor="ctr"/>
          <a:lstStyle/>
          <a:p>
            <a:pPr indent="0" marL="0">
              <a:buNone/>
            </a:pPr>
            <a:r>
              <a:rPr lang="en-US" sz="2200" b="1" dirty="0">
                <a:solidFill>
                  <a:srgbClr val="F3F6FA"/>
                </a:solidFill>
                <a:latin typeface="Aptos" pitchFamily="34" charset="0"/>
                <a:ea typeface="Aptos" pitchFamily="34" charset="-122"/>
                <a:cs typeface="Aptos" pitchFamily="34" charset="-120"/>
              </a:rPr>
              <a:t>streaming integration tests</a:t>
            </a:r>
            <a:endParaRPr lang="en-US" sz="2200" dirty="0"/>
          </a:p>
        </p:txBody>
      </p:sp>
      <p:sp>
        <p:nvSpPr>
          <p:cNvPr id="10" name="Text 8"/>
          <p:cNvSpPr/>
          <p:nvPr/>
        </p:nvSpPr>
        <p:spPr>
          <a:xfrm>
            <a:off x="4599432" y="2871216"/>
            <a:ext cx="2743200" cy="1097280"/>
          </a:xfrm>
          <a:prstGeom prst="rect">
            <a:avLst/>
          </a:prstGeom>
          <a:noFill/>
          <a:ln/>
        </p:spPr>
        <p:txBody>
          <a:bodyPr wrap="square" lIns="0" tIns="0" rIns="0" bIns="0" rtlCol="0" anchor="ctr"/>
          <a:lstStyle/>
          <a:p>
            <a:pPr indent="0" marL="0">
              <a:buNone/>
            </a:pPr>
            <a:r>
              <a:rPr lang="en-US" sz="8400" b="1" dirty="0">
                <a:solidFill>
                  <a:srgbClr val="77B7FF"/>
                </a:solidFill>
                <a:latin typeface="Aptos" pitchFamily="34" charset="0"/>
                <a:ea typeface="Aptos" pitchFamily="34" charset="-122"/>
                <a:cs typeface="Aptos" pitchFamily="34" charset="-120"/>
              </a:rPr>
              <a:t>8</a:t>
            </a:r>
            <a:endParaRPr lang="en-US" sz="8400" dirty="0"/>
          </a:p>
        </p:txBody>
      </p:sp>
      <p:sp>
        <p:nvSpPr>
          <p:cNvPr id="11" name="Text 9"/>
          <p:cNvSpPr/>
          <p:nvPr/>
        </p:nvSpPr>
        <p:spPr>
          <a:xfrm>
            <a:off x="4636008" y="4142232"/>
            <a:ext cx="3200400" cy="640080"/>
          </a:xfrm>
          <a:prstGeom prst="rect">
            <a:avLst/>
          </a:prstGeom>
          <a:noFill/>
          <a:ln/>
        </p:spPr>
        <p:txBody>
          <a:bodyPr wrap="square" lIns="0" tIns="0" rIns="0" bIns="0" rtlCol="0" anchor="ctr"/>
          <a:lstStyle/>
          <a:p>
            <a:pPr indent="0" marL="0">
              <a:buNone/>
            </a:pPr>
            <a:r>
              <a:rPr lang="en-US" sz="2200" b="1" dirty="0">
                <a:solidFill>
                  <a:srgbClr val="F3F6FA"/>
                </a:solidFill>
                <a:latin typeface="Aptos" pitchFamily="34" charset="0"/>
                <a:ea typeface="Aptos" pitchFamily="34" charset="-122"/>
                <a:cs typeface="Aptos" pitchFamily="34" charset="-120"/>
              </a:rPr>
              <a:t>recap regression tests</a:t>
            </a:r>
            <a:endParaRPr lang="en-US" sz="2200" dirty="0"/>
          </a:p>
        </p:txBody>
      </p:sp>
      <p:sp>
        <p:nvSpPr>
          <p:cNvPr id="12" name="Text 10"/>
          <p:cNvSpPr/>
          <p:nvPr/>
        </p:nvSpPr>
        <p:spPr>
          <a:xfrm>
            <a:off x="8394192" y="3282696"/>
            <a:ext cx="2926080" cy="640080"/>
          </a:xfrm>
          <a:prstGeom prst="rect">
            <a:avLst/>
          </a:prstGeom>
          <a:noFill/>
          <a:ln/>
        </p:spPr>
        <p:txBody>
          <a:bodyPr wrap="square" lIns="0" tIns="0" rIns="0" bIns="0" rtlCol="0" anchor="ctr"/>
          <a:lstStyle/>
          <a:p>
            <a:pPr indent="0" marL="0">
              <a:buNone/>
            </a:pPr>
            <a:r>
              <a:rPr lang="en-US" sz="3600" b="1" dirty="0">
                <a:solidFill>
                  <a:srgbClr val="D9FF65"/>
                </a:solidFill>
                <a:latin typeface="Aptos" pitchFamily="34" charset="0"/>
                <a:ea typeface="Aptos" pitchFamily="34" charset="-122"/>
                <a:cs typeface="Aptos" pitchFamily="34" charset="-120"/>
              </a:rPr>
              <a:t>PASS</a:t>
            </a:r>
            <a:endParaRPr lang="en-US" sz="3600" dirty="0"/>
          </a:p>
        </p:txBody>
      </p:sp>
      <p:sp>
        <p:nvSpPr>
          <p:cNvPr id="13" name="Text 11"/>
          <p:cNvSpPr/>
          <p:nvPr/>
        </p:nvSpPr>
        <p:spPr>
          <a:xfrm>
            <a:off x="8412480" y="4142232"/>
            <a:ext cx="2743200" cy="822960"/>
          </a:xfrm>
          <a:prstGeom prst="rect">
            <a:avLst/>
          </a:prstGeom>
          <a:noFill/>
          <a:ln/>
        </p:spPr>
        <p:txBody>
          <a:bodyPr wrap="square" lIns="0" tIns="0" rIns="0" bIns="0" rtlCol="0" anchor="ctr"/>
          <a:lstStyle/>
          <a:p>
            <a:pPr indent="0" marL="0">
              <a:buNone/>
            </a:pPr>
            <a:r>
              <a:rPr lang="en-US" sz="2200" b="1" dirty="0">
                <a:solidFill>
                  <a:srgbClr val="F3F6FA"/>
                </a:solidFill>
                <a:latin typeface="Aptos" pitchFamily="34" charset="0"/>
                <a:ea typeface="Aptos" pitchFamily="34" charset="-122"/>
                <a:cs typeface="Aptos" pitchFamily="34" charset="-120"/>
              </a:rPr>
              <a:t>frontend + API builds</a:t>
            </a:r>
            <a:endParaRPr lang="en-US" sz="2200" dirty="0"/>
          </a:p>
          <a:p>
            <a:pPr indent="0" marL="0">
              <a:buNone/>
            </a:pPr>
            <a:r>
              <a:rPr lang="en-US" sz="2200" b="1" dirty="0">
                <a:solidFill>
                  <a:srgbClr val="F3F6FA"/>
                </a:solidFill>
                <a:latin typeface="Aptos" pitchFamily="34" charset="0"/>
                <a:ea typeface="Aptos" pitchFamily="34" charset="-122"/>
                <a:cs typeface="Aptos" pitchFamily="34" charset="-120"/>
              </a:rPr>
              <a:t>and type checks</a:t>
            </a:r>
            <a:endParaRPr lang="en-US" sz="2200" dirty="0"/>
          </a:p>
        </p:txBody>
      </p:sp>
      <p:sp>
        <p:nvSpPr>
          <p:cNvPr id="14" name="Text 12"/>
          <p:cNvSpPr/>
          <p:nvPr/>
        </p:nvSpPr>
        <p:spPr>
          <a:xfrm>
            <a:off x="658368" y="5751576"/>
            <a:ext cx="10881360" cy="384048"/>
          </a:xfrm>
          <a:prstGeom prst="rect">
            <a:avLst/>
          </a:prstGeom>
          <a:noFill/>
          <a:ln/>
        </p:spPr>
        <p:txBody>
          <a:bodyPr wrap="square" lIns="0" tIns="0" rIns="0" bIns="0" rtlCol="0" anchor="ctr"/>
          <a:lstStyle/>
          <a:p>
            <a:pPr indent="0" marL="0">
              <a:buNone/>
            </a:pPr>
            <a:r>
              <a:rPr lang="en-US" sz="1500" dirty="0">
                <a:solidFill>
                  <a:srgbClr val="ACBACB"/>
                </a:solidFill>
                <a:latin typeface="Aptos" pitchFamily="34" charset="0"/>
                <a:ea typeface="Aptos" pitchFamily="34" charset="-122"/>
                <a:cs typeface="Aptos" pitchFamily="34" charset="-120"/>
              </a:rPr>
              <a:t>These are development checks — not users, revenue, production uptime, or scale benchmarks.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11B"/>
        </a:solidFill>
      </p:bgPr>
    </p:bg>
    <p:spTree>
      <p:nvGrpSpPr>
        <p:cNvPr id="1" name=""/>
        <p:cNvGrpSpPr/>
        <p:nvPr/>
      </p:nvGrpSpPr>
      <p:grpSpPr>
        <a:xfrm>
          <a:off x="0" y="0"/>
          <a:ext cx="0" cy="0"/>
          <a:chOff x="0" y="0"/>
          <a:chExt cx="0" cy="0"/>
        </a:xfrm>
      </p:grpSpPr>
      <p:sp>
        <p:nvSpPr>
          <p:cNvPr id="2" name="Text 0"/>
          <p:cNvSpPr/>
          <p:nvPr/>
        </p:nvSpPr>
        <p:spPr>
          <a:xfrm>
            <a:off x="594360" y="292608"/>
            <a:ext cx="2743200" cy="228600"/>
          </a:xfrm>
          <a:prstGeom prst="rect">
            <a:avLst/>
          </a:prstGeom>
          <a:noFill/>
          <a:ln/>
        </p:spPr>
        <p:txBody>
          <a:bodyPr wrap="square" lIns="0" tIns="0" rIns="0" bIns="0" rtlCol="0" anchor="ctr"/>
          <a:lstStyle/>
          <a:p>
            <a:pPr indent="0" marL="0">
              <a:buNone/>
            </a:pPr>
            <a:r>
              <a:rPr lang="en-US" sz="1200" b="1" spc="200" kern="0" dirty="0">
                <a:solidFill>
                  <a:srgbClr val="D9FF65"/>
                </a:solidFill>
                <a:latin typeface="Aptos" pitchFamily="34" charset="0"/>
                <a:ea typeface="Aptos" pitchFamily="34" charset="-122"/>
                <a:cs typeface="Aptos" pitchFamily="34" charset="-120"/>
              </a:rPr>
              <a:t>MATCHWATCH</a:t>
            </a:r>
            <a:endParaRPr lang="en-US" sz="1200" dirty="0"/>
          </a:p>
        </p:txBody>
      </p:sp>
      <p:sp>
        <p:nvSpPr>
          <p:cNvPr id="3" name="Text 1"/>
          <p:cNvSpPr/>
          <p:nvPr/>
        </p:nvSpPr>
        <p:spPr>
          <a:xfrm>
            <a:off x="594360" y="868680"/>
            <a:ext cx="10789920" cy="274320"/>
          </a:xfrm>
          <a:prstGeom prst="rect">
            <a:avLst/>
          </a:prstGeom>
          <a:noFill/>
          <a:ln/>
        </p:spPr>
        <p:txBody>
          <a:bodyPr wrap="square" lIns="0" tIns="0" rIns="0" bIns="0" rtlCol="0" anchor="ctr"/>
          <a:lstStyle/>
          <a:p>
            <a:pPr indent="0" marL="0">
              <a:buNone/>
            </a:pPr>
            <a:r>
              <a:rPr lang="en-US" sz="1100" b="1" spc="200" kern="0" dirty="0">
                <a:solidFill>
                  <a:srgbClr val="77B7FF"/>
                </a:solidFill>
                <a:latin typeface="Aptos" pitchFamily="34" charset="0"/>
                <a:ea typeface="Aptos" pitchFamily="34" charset="-122"/>
                <a:cs typeface="Aptos" pitchFamily="34" charset="-120"/>
              </a:rPr>
              <a:t>LET’S BUILD THE NEXT CHAPTER</a:t>
            </a:r>
            <a:endParaRPr lang="en-US" sz="1100" dirty="0"/>
          </a:p>
        </p:txBody>
      </p:sp>
      <p:sp>
        <p:nvSpPr>
          <p:cNvPr id="4" name="Text 2"/>
          <p:cNvSpPr/>
          <p:nvPr/>
        </p:nvSpPr>
        <p:spPr>
          <a:xfrm>
            <a:off x="594360" y="1271016"/>
            <a:ext cx="10972800" cy="1024128"/>
          </a:xfrm>
          <a:prstGeom prst="rect">
            <a:avLst/>
          </a:prstGeom>
          <a:noFill/>
          <a:ln/>
        </p:spPr>
        <p:txBody>
          <a:bodyPr wrap="square" lIns="0" tIns="0" rIns="0" bIns="0" rtlCol="0" anchor="ctr"/>
          <a:lstStyle/>
          <a:p>
            <a:pPr indent="0" marL="0">
              <a:buNone/>
            </a:pPr>
            <a:r>
              <a:rPr lang="en-US" sz="3500" b="1" dirty="0">
                <a:solidFill>
                  <a:srgbClr val="F3F6FA"/>
                </a:solidFill>
                <a:latin typeface="Aptos" pitchFamily="34" charset="0"/>
                <a:ea typeface="Aptos" pitchFamily="34" charset="-122"/>
                <a:cs typeface="Aptos" pitchFamily="34" charset="-120"/>
              </a:rPr>
              <a:t>A home for the game.</a:t>
            </a:r>
            <a:endParaRPr lang="en-US" sz="3500" dirty="0"/>
          </a:p>
          <a:p>
            <a:pPr indent="0" marL="0">
              <a:buNone/>
            </a:pPr>
            <a:r>
              <a:rPr lang="en-US" sz="3500" b="1" dirty="0">
                <a:solidFill>
                  <a:srgbClr val="F3F6FA"/>
                </a:solidFill>
                <a:latin typeface="Aptos" pitchFamily="34" charset="0"/>
                <a:ea typeface="Aptos" pitchFamily="34" charset="-122"/>
                <a:cs typeface="Aptos" pitchFamily="34" charset="-120"/>
              </a:rPr>
              <a:t>A library for the moments.</a:t>
            </a:r>
            <a:endParaRPr lang="en-US" sz="3500" dirty="0"/>
          </a:p>
        </p:txBody>
      </p:sp>
      <p:sp>
        <p:nvSpPr>
          <p:cNvPr id="5" name="Shape 3"/>
          <p:cNvSpPr/>
          <p:nvPr/>
        </p:nvSpPr>
        <p:spPr>
          <a:xfrm>
            <a:off x="594360" y="6373368"/>
            <a:ext cx="10972800" cy="0"/>
          </a:xfrm>
          <a:prstGeom prst="line">
            <a:avLst/>
          </a:prstGeom>
          <a:noFill/>
          <a:ln w="8890">
            <a:solidFill>
              <a:srgbClr val="304256"/>
            </a:solidFill>
            <a:prstDash val="solid"/>
          </a:ln>
        </p:spPr>
      </p:sp>
      <p:sp>
        <p:nvSpPr>
          <p:cNvPr id="6" name="Text 4"/>
          <p:cNvSpPr/>
          <p:nvPr/>
        </p:nvSpPr>
        <p:spPr>
          <a:xfrm>
            <a:off x="594360" y="6519672"/>
            <a:ext cx="10058400" cy="164592"/>
          </a:xfrm>
          <a:prstGeom prst="rect">
            <a:avLst/>
          </a:prstGeom>
          <a:noFill/>
          <a:ln/>
        </p:spPr>
        <p:txBody>
          <a:bodyPr wrap="square" lIns="0" tIns="0" rIns="0" bIns="0" rtlCol="0" anchor="ctr"/>
          <a:lstStyle/>
          <a:p>
            <a:pPr indent="0" marL="0">
              <a:buNone/>
            </a:pPr>
            <a:r>
              <a:rPr lang="en-US" sz="900" dirty="0">
                <a:solidFill>
                  <a:srgbClr val="ACBACB"/>
                </a:solidFill>
                <a:latin typeface="Aptos" pitchFamily="34" charset="0"/>
                <a:ea typeface="Aptos" pitchFamily="34" charset="-122"/>
                <a:cs typeface="Aptos" pitchFamily="34" charset="-120"/>
              </a:rPr>
              <a:t>matchwatch.us  /  Product &amp; business overview  /  October 20, 2026</a:t>
            </a:r>
            <a:endParaRPr lang="en-US" sz="900" dirty="0"/>
          </a:p>
        </p:txBody>
      </p:sp>
      <p:sp>
        <p:nvSpPr>
          <p:cNvPr id="7" name="Text 5"/>
          <p:cNvSpPr/>
          <p:nvPr/>
        </p:nvSpPr>
        <p:spPr>
          <a:xfrm>
            <a:off x="10972800" y="6492240"/>
            <a:ext cx="594360" cy="201168"/>
          </a:xfrm>
          <a:prstGeom prst="rect">
            <a:avLst/>
          </a:prstGeom>
          <a:noFill/>
          <a:ln/>
        </p:spPr>
        <p:txBody>
          <a:bodyPr wrap="square" lIns="0" tIns="0" rIns="0" bIns="0" rtlCol="0" anchor="ctr"/>
          <a:lstStyle/>
          <a:p>
            <a:pPr algn="r" indent="0" marL="0">
              <a:buNone/>
            </a:pPr>
            <a:r>
              <a:rPr lang="en-US" sz="1000" dirty="0">
                <a:solidFill>
                  <a:srgbClr val="D9FF65"/>
                </a:solidFill>
                <a:latin typeface="Aptos" pitchFamily="34" charset="0"/>
                <a:ea typeface="Aptos" pitchFamily="34" charset="-122"/>
                <a:cs typeface="Aptos" pitchFamily="34" charset="-120"/>
              </a:rPr>
              <a:t>12</a:t>
            </a:r>
            <a:endParaRPr lang="en-US" sz="1000" dirty="0"/>
          </a:p>
        </p:txBody>
      </p:sp>
      <p:sp>
        <p:nvSpPr>
          <p:cNvPr id="8" name="Text 6"/>
          <p:cNvSpPr/>
          <p:nvPr/>
        </p:nvSpPr>
        <p:spPr>
          <a:xfrm>
            <a:off x="640080" y="2834640"/>
            <a:ext cx="9692640" cy="1005840"/>
          </a:xfrm>
          <a:prstGeom prst="rect">
            <a:avLst/>
          </a:prstGeom>
          <a:noFill/>
          <a:ln/>
        </p:spPr>
        <p:txBody>
          <a:bodyPr wrap="square" lIns="0" tIns="0" rIns="0" bIns="0" rtlCol="0" anchor="ctr"/>
          <a:lstStyle/>
          <a:p>
            <a:pPr indent="0" marL="0">
              <a:buNone/>
            </a:pPr>
            <a:r>
              <a:rPr lang="en-US" sz="2700" dirty="0">
                <a:solidFill>
                  <a:srgbClr val="ACBACB"/>
                </a:solidFill>
                <a:latin typeface="Aptos" pitchFamily="34" charset="0"/>
                <a:ea typeface="Aptos" pitchFamily="34" charset="-122"/>
                <a:cs typeface="Aptos" pitchFamily="34" charset="-120"/>
              </a:rPr>
              <a:t>Seeking pilot creators and venues, plus teammates for AI video search and recap production.</a:t>
            </a:r>
            <a:endParaRPr lang="en-US" sz="2700" dirty="0"/>
          </a:p>
        </p:txBody>
      </p:sp>
      <p:sp>
        <p:nvSpPr>
          <p:cNvPr id="9" name="Shape 7"/>
          <p:cNvSpPr/>
          <p:nvPr/>
        </p:nvSpPr>
        <p:spPr>
          <a:xfrm>
            <a:off x="640080" y="4361688"/>
            <a:ext cx="10881360" cy="1143000"/>
          </a:xfrm>
          <a:prstGeom prst="rect">
            <a:avLst>
              <a:gd name="adj" fmla="val 9600"/>
            </a:avLst>
          </a:prstGeom>
          <a:solidFill>
            <a:srgbClr val="D9FF65"/>
          </a:solidFill>
          <a:ln w="12700">
            <a:solidFill>
              <a:srgbClr val="D9FF65"/>
            </a:solidFill>
            <a:prstDash val="solid"/>
          </a:ln>
        </p:spPr>
      </p:sp>
      <p:sp>
        <p:nvSpPr>
          <p:cNvPr id="10" name="Text 8">
            <a:hlinkClick r:id="rId1" tooltip=""/>
          </p:cNvPr>
          <p:cNvSpPr/>
          <p:nvPr/>
        </p:nvSpPr>
        <p:spPr>
          <a:xfrm>
            <a:off x="914400" y="4645152"/>
            <a:ext cx="7315200" cy="521208"/>
          </a:xfrm>
          <a:prstGeom prst="rect">
            <a:avLst/>
          </a:prstGeom>
          <a:noFill/>
          <a:ln/>
        </p:spPr>
        <p:txBody>
          <a:bodyPr wrap="square" lIns="0" tIns="0" rIns="0" bIns="0" rtlCol="0" anchor="ctr"/>
          <a:lstStyle/>
          <a:p>
            <a:pPr indent="0" marL="0">
              <a:buNone/>
            </a:pPr>
            <a:r>
              <a:rPr lang="en-US" sz="3400" b="1" u="sng" dirty="0">
                <a:solidFill>
                  <a:srgbClr val="0B111B"/>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matchwatch.us</a:t>
            </a:r>
            <a:endParaRPr lang="en-US" sz="3400" dirty="0"/>
          </a:p>
        </p:txBody>
      </p:sp>
      <p:sp>
        <p:nvSpPr>
          <p:cNvPr id="11" name="Text 9"/>
          <p:cNvSpPr/>
          <p:nvPr/>
        </p:nvSpPr>
        <p:spPr>
          <a:xfrm>
            <a:off x="8001000" y="4791456"/>
            <a:ext cx="3200400" cy="274320"/>
          </a:xfrm>
          <a:prstGeom prst="rect">
            <a:avLst/>
          </a:prstGeom>
          <a:noFill/>
          <a:ln/>
        </p:spPr>
        <p:txBody>
          <a:bodyPr wrap="square" lIns="0" tIns="0" rIns="0" bIns="0" rtlCol="0" anchor="ctr"/>
          <a:lstStyle/>
          <a:p>
            <a:pPr indent="0" marL="0">
              <a:buNone/>
            </a:pPr>
            <a:r>
              <a:rPr lang="en-US" sz="1300" b="1" dirty="0">
                <a:solidFill>
                  <a:srgbClr val="0B111B"/>
                </a:solidFill>
                <a:latin typeface="Aptos" pitchFamily="34" charset="0"/>
                <a:ea typeface="Aptos" pitchFamily="34" charset="-122"/>
                <a:cs typeface="Aptos" pitchFamily="34" charset="-120"/>
              </a:rPr>
              <a:t>PILOT • BUILD • LEARN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MatchWatch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MatchWatch | From discovery to the moments that matter</dc:title>
  <dc:subject>Product history, present platform, and business model</dc:subject>
  <dc:creator>MatchWatch</dc:creator>
  <cp:lastModifiedBy>MatchWatch</cp:lastModifiedBy>
  <cp:revision>1</cp:revision>
  <dcterms:created xsi:type="dcterms:W3CDTF">2026-10-20T17:41:51Z</dcterms:created>
  <dcterms:modified xsi:type="dcterms:W3CDTF">2026-10-20T17:41:51Z</dcterms:modified>
</cp:coreProperties>
</file>